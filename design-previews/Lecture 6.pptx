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PT Sans Narrow"/>
      <p:regular r:id="rId41"/>
      <p:bold r:id="rId42"/>
    </p:embeddedFont>
    <p:embeddedFont>
      <p:font typeface="Book Antiqua"/>
      <p:regular r:id="rId43"/>
      <p:bold r:id="rId44"/>
      <p:italic r:id="rId45"/>
      <p:boldItalic r:id="rId46"/>
    </p:embeddedFont>
    <p:embeddedFont>
      <p:font typeface="Open Sans Medium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5" roundtripDataSignature="AMtx7mi9hb46c6+P1JKZ7Q9phN8fd1Az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PTSansNarrow-bold.fntdata"/><Relationship Id="rId41" Type="http://schemas.openxmlformats.org/officeDocument/2006/relationships/font" Target="fonts/PTSansNarrow-regular.fntdata"/><Relationship Id="rId44" Type="http://schemas.openxmlformats.org/officeDocument/2006/relationships/font" Target="fonts/BookAntiqua-bold.fntdata"/><Relationship Id="rId43" Type="http://schemas.openxmlformats.org/officeDocument/2006/relationships/font" Target="fonts/BookAntiqua-regular.fntdata"/><Relationship Id="rId46" Type="http://schemas.openxmlformats.org/officeDocument/2006/relationships/font" Target="fonts/BookAntiqua-boldItalic.fntdata"/><Relationship Id="rId45" Type="http://schemas.openxmlformats.org/officeDocument/2006/relationships/font" Target="fonts/BookAntiqu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Medium-bold.fntdata"/><Relationship Id="rId47" Type="http://schemas.openxmlformats.org/officeDocument/2006/relationships/font" Target="fonts/OpenSansMedium-regular.fntdata"/><Relationship Id="rId49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regular.fntdata"/><Relationship Id="rId50" Type="http://schemas.openxmlformats.org/officeDocument/2006/relationships/font" Target="fonts/OpenSansMedium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7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37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37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37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37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37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37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37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37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37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3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8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" name="Google Shape;25;p38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" name="Google Shape;26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9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457200" y="1200150"/>
            <a:ext cx="76200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0" type="dt"/>
          </p:nvPr>
        </p:nvSpPr>
        <p:spPr>
          <a:xfrm rot="-5400000">
            <a:off x="7856121" y="118875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0"/>
          <p:cNvSpPr txBox="1"/>
          <p:nvPr>
            <p:ph idx="11" type="ftr"/>
          </p:nvPr>
        </p:nvSpPr>
        <p:spPr>
          <a:xfrm rot="-5400000">
            <a:off x="7882821" y="2990910"/>
            <a:ext cx="177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40"/>
          <p:cNvSpPr/>
          <p:nvPr>
            <p:ph idx="12" type="sldNum"/>
          </p:nvPr>
        </p:nvSpPr>
        <p:spPr>
          <a:xfrm>
            <a:off x="8531788" y="4236720"/>
            <a:ext cx="548700" cy="297300"/>
          </a:xfrm>
          <a:prstGeom prst="bracketPair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1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1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42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" name="Google Shape;5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5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60" name="Google Shape;6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7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javatpoint.com/dbms-notation-of-er-diagram" TargetMode="External"/><Relationship Id="rId4" Type="http://schemas.openxmlformats.org/officeDocument/2006/relationships/hyperlink" Target="https://www.javatpoint.com/dbms-er-model-concep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Lecture 6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1728300" y="2850052"/>
            <a:ext cx="5687400" cy="9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000"/>
              <a:buNone/>
            </a:pPr>
            <a:r>
              <a:rPr lang="en"/>
              <a:t>Nusrat Jahan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000"/>
              <a:buNone/>
            </a:pPr>
            <a:r>
              <a:rPr lang="en"/>
              <a:t>Lecturer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000"/>
              <a:buNone/>
            </a:pPr>
            <a:r>
              <a:rPr lang="en"/>
              <a:t>Department of Software Engineering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000"/>
              <a:buNone/>
            </a:pPr>
            <a:r>
              <a:rPr lang="en"/>
              <a:t>Daffodil International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79" name="Google Shape;79;p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Definition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Manipulation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Control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Transaction Control Language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Entity Relationship Diagram</a:t>
            </a:r>
            <a:endParaRPr/>
          </a:p>
        </p:txBody>
      </p:sp>
      <p:sp>
        <p:nvSpPr>
          <p:cNvPr id="85" name="Google Shape;85;p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Char char="➔"/>
            </a:pPr>
            <a:r>
              <a:rPr lang="en" sz="2000">
                <a:latin typeface="Open Sans Medium"/>
                <a:ea typeface="Open Sans Medium"/>
                <a:cs typeface="Open Sans Medium"/>
                <a:sym typeface="Open Sans Medium"/>
              </a:rPr>
              <a:t>An Entity–relationship model (ER model) describes the structure of a database with the help of a diagram, which is known as Entity Relationship Diagram (ER Diagram). </a:t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Char char="➔"/>
            </a:pPr>
            <a:r>
              <a:rPr lang="en" sz="2000">
                <a:latin typeface="Open Sans Medium"/>
                <a:ea typeface="Open Sans Medium"/>
                <a:cs typeface="Open Sans Medium"/>
                <a:sym typeface="Open Sans Medium"/>
              </a:rPr>
              <a:t>An ER model is a design or blueprint of a database that can later be implemented as a database. </a:t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Char char="➔"/>
            </a:pPr>
            <a:r>
              <a:rPr lang="en" sz="2000">
                <a:latin typeface="Open Sans Medium"/>
                <a:ea typeface="Open Sans Medium"/>
                <a:cs typeface="Open Sans Medium"/>
                <a:sym typeface="Open Sans Medium"/>
              </a:rPr>
              <a:t>The main components of E-R model are: </a:t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556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Char char="◆"/>
            </a:pPr>
            <a:r>
              <a:rPr lang="en" sz="2000">
                <a:latin typeface="Open Sans Medium"/>
                <a:ea typeface="Open Sans Medium"/>
                <a:cs typeface="Open Sans Medium"/>
                <a:sym typeface="Open Sans Medium"/>
              </a:rPr>
              <a:t>Entity set and </a:t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556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Char char="◆"/>
            </a:pPr>
            <a:r>
              <a:rPr lang="en" sz="2000">
                <a:latin typeface="Open Sans Medium"/>
                <a:ea typeface="Open Sans Medium"/>
                <a:cs typeface="Open Sans Medium"/>
                <a:sym typeface="Open Sans Medium"/>
              </a:rPr>
              <a:t>Relationship set. </a:t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an Entity Relationship Diagram (ER Diagram)</a:t>
            </a:r>
            <a:endParaRPr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Char char="➔"/>
            </a:pPr>
            <a:r>
              <a:rPr lang="en" sz="2000">
                <a:latin typeface="Open Sans Medium"/>
                <a:ea typeface="Open Sans Medium"/>
                <a:cs typeface="Open Sans Medium"/>
                <a:sym typeface="Open Sans Medium"/>
              </a:rPr>
              <a:t>An ER diagram shows the relationship among entity sets. </a:t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Char char="➔"/>
            </a:pPr>
            <a:r>
              <a:rPr lang="en" sz="2000">
                <a:latin typeface="Open Sans Medium"/>
                <a:ea typeface="Open Sans Medium"/>
                <a:cs typeface="Open Sans Medium"/>
                <a:sym typeface="Open Sans Medium"/>
              </a:rPr>
              <a:t>An entity set is a group of similar entities and these entities can have attributes. </a:t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Char char="➔"/>
            </a:pPr>
            <a:r>
              <a:rPr lang="en" sz="2000">
                <a:latin typeface="Open Sans Medium"/>
                <a:ea typeface="Open Sans Medium"/>
                <a:cs typeface="Open Sans Medium"/>
                <a:sym typeface="Open Sans Medium"/>
              </a:rPr>
              <a:t>In terms of DBMS, an entity is a table or attribute of a table in database, so by showing relationship among tables and their attributes, ER diagram shows the complete logical structure of a database.</a:t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an Entity Relationship Diagram (ER Diagram)</a:t>
            </a:r>
            <a:endParaRPr/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Char char="➔"/>
            </a:pPr>
            <a:r>
              <a:rPr lang="en" sz="2000">
                <a:latin typeface="Open Sans Medium"/>
                <a:ea typeface="Open Sans Medium"/>
                <a:cs typeface="Open Sans Medium"/>
                <a:sym typeface="Open Sans Medium"/>
              </a:rPr>
              <a:t>Lets see an example of sample ER Diagram.</a:t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0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775" y="1764450"/>
            <a:ext cx="4458850" cy="291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 txBox="1"/>
          <p:nvPr/>
        </p:nvSpPr>
        <p:spPr>
          <a:xfrm>
            <a:off x="3631550" y="4569025"/>
            <a:ext cx="14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Sample ERD</a:t>
            </a:r>
            <a:endParaRPr b="0" i="0" sz="14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Component of Entity Relationship Diagram</a:t>
            </a:r>
            <a:endParaRPr/>
          </a:p>
        </p:txBody>
      </p:sp>
      <p:pic>
        <p:nvPicPr>
          <p:cNvPr id="105" name="Google Shape;1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6050" y="1152425"/>
            <a:ext cx="4072626" cy="36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Main Components of ER Diagram</a:t>
            </a:r>
            <a:endParaRPr/>
          </a:p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/>
              <a:t>An ER diagram has three main components: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Entity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Attribute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Relationship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Entity?</a:t>
            </a:r>
            <a:endParaRPr/>
          </a:p>
        </p:txBody>
      </p:sp>
      <p:sp>
        <p:nvSpPr>
          <p:cNvPr id="117" name="Google Shape;117;p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An entity is an object or component of data. An entity is represented as rectangle in an ER diagram.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example: In the following ER diagram we have two entities </a:t>
            </a:r>
            <a:r>
              <a:rPr b="1" lang="en"/>
              <a:t>Student</a:t>
            </a:r>
            <a:r>
              <a:rPr lang="en"/>
              <a:t> and </a:t>
            </a:r>
            <a:r>
              <a:rPr b="1" lang="en"/>
              <a:t>College</a:t>
            </a:r>
            <a:r>
              <a:rPr lang="en"/>
              <a:t> and these two entities have many to one relationship as many students study in a single college. We will read more about relationships later, for now focus on entities. </a:t>
            </a:r>
            <a:endParaRPr/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625" y="3483175"/>
            <a:ext cx="489585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Weak Entity?</a:t>
            </a:r>
            <a:endParaRPr/>
          </a:p>
        </p:txBody>
      </p:sp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An entity that cannot be uniquely identified by its own attributes and relies on the relationship with other entity is called weak entity. The weak entity is represented by a double rectangle.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 – a bank account cannot be uniquely identified without knowing the bank to which the account belongs, so bank account is a weak entity. </a:t>
            </a:r>
            <a:endParaRPr/>
          </a:p>
        </p:txBody>
      </p:sp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2175" y="3285350"/>
            <a:ext cx="481965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Attribute?</a:t>
            </a:r>
            <a:endParaRPr/>
          </a:p>
        </p:txBody>
      </p:sp>
      <p:sp>
        <p:nvSpPr>
          <p:cNvPr id="131" name="Google Shape;131;p1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2200"/>
              <a:t>An attribute describes the property of an entity. An attribute is represented as Oval in an ER diagram. </a:t>
            </a:r>
            <a:endParaRPr sz="2200"/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2200"/>
              <a:t>There are four types of attributes: </a:t>
            </a:r>
            <a:endParaRPr sz="2200"/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Key attribute</a:t>
            </a:r>
            <a:endParaRPr sz="1800"/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Composite attribute</a:t>
            </a:r>
            <a:endParaRPr sz="1800"/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Multivalued attribute</a:t>
            </a:r>
            <a:endParaRPr sz="1800"/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Derived attribute 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Key Attribute?</a:t>
            </a:r>
            <a:endParaRPr/>
          </a:p>
        </p:txBody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 key attribute can uniquely identify an entity from an entity set.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example, student roll number can uniquely identify a student from a set of students. Key attribute is represented by oval same as other attributes however the text of key attribute is underlined.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6236" y="2848552"/>
            <a:ext cx="3983515" cy="19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Composite Attribute?</a:t>
            </a:r>
            <a:endParaRPr/>
          </a:p>
        </p:txBody>
      </p:sp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 An attribute that is a combination of other attributes is known as composite attribute.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example, In student entity, the student address is a composite attribute as an address is composed of other attributes such as pin code, state, country.</a:t>
            </a:r>
            <a:endParaRPr/>
          </a:p>
        </p:txBody>
      </p:sp>
      <p:pic>
        <p:nvPicPr>
          <p:cNvPr id="145" name="Google Shape;1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0025" y="2893850"/>
            <a:ext cx="455295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Multivalued Attribute?</a:t>
            </a:r>
            <a:endParaRPr/>
          </a:p>
        </p:txBody>
      </p:sp>
      <p:sp>
        <p:nvSpPr>
          <p:cNvPr id="151" name="Google Shape;151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An attribute that can hold multiple values is known as multivalued attribute. It is represented with double ovals in an ER Diagram.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 – A person can have more than one phone numbers so the phone number attribute is multivalued.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DBMS ER model concept" id="152" name="Google Shape;1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5525" y="2943250"/>
            <a:ext cx="214312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Derived Attribute?</a:t>
            </a:r>
            <a:endParaRPr/>
          </a:p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 derived attribute is one whose value is dynamic and derived from another attribute. It is represented by dashed oval in an ER Diagram.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 – Person age is a derived attribute as it changes over time and can be derived from another attribute (Date of birth).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5925" y="2878275"/>
            <a:ext cx="36957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Relationship?</a:t>
            </a:r>
            <a:endParaRPr/>
          </a:p>
        </p:txBody>
      </p:sp>
      <p:sp>
        <p:nvSpPr>
          <p:cNvPr id="165" name="Google Shape;165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Cardinality: Defines the numerical attributes of the relationship between two entities or entity sets.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 relationship is represented by diamond shape in ER diagram, it shows the relationship among entities.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There are four types of cardinal relationships: 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One to One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One to Many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Many to One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Many to Many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One to One Relationship?</a:t>
            </a:r>
            <a:endParaRPr/>
          </a:p>
        </p:txBody>
      </p:sp>
      <p:sp>
        <p:nvSpPr>
          <p:cNvPr id="171" name="Google Shape;171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When a single instance of an entity is associated with a single instance of another entity then it is called one to one relationship.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example, a person has only one passport and a passport is given to one person. 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7313" y="3036413"/>
            <a:ext cx="469582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One to Many Relationships?</a:t>
            </a:r>
            <a:endParaRPr/>
          </a:p>
        </p:txBody>
      </p:sp>
      <p:sp>
        <p:nvSpPr>
          <p:cNvPr id="178" name="Google Shape;178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When a single instance of an entity is associated with more than one instances of another entity then it is called one to many relationship.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 – a customer can place many orders but a order cannot be placed by many customers. </a:t>
            </a:r>
            <a:endParaRPr/>
          </a:p>
        </p:txBody>
      </p:sp>
      <p:pic>
        <p:nvPicPr>
          <p:cNvPr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938" y="3045938"/>
            <a:ext cx="467677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Many to One Relationship?</a:t>
            </a:r>
            <a:endParaRPr/>
          </a:p>
        </p:txBody>
      </p:sp>
      <p:sp>
        <p:nvSpPr>
          <p:cNvPr id="185" name="Google Shape;185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When more than one instances of an entity is associated with a single instance of another entity then it is called many to one relationship.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 – many students can study in a single college but a student cannot study in many colleges at the same time.</a:t>
            </a:r>
            <a:endParaRPr/>
          </a:p>
        </p:txBody>
      </p:sp>
      <p:pic>
        <p:nvPicPr>
          <p:cNvPr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6038" y="2980238"/>
            <a:ext cx="4676775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Many to Many Relationships?</a:t>
            </a: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When more than one instances of an entity is associated with more than one instances of another entity then it is called many to many relationship. 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 example, a can be assigned to many projects and a project can be assigned to many students. </a:t>
            </a:r>
            <a:endParaRPr/>
          </a:p>
        </p:txBody>
      </p:sp>
      <p:pic>
        <p:nvPicPr>
          <p:cNvPr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0250" y="3245988"/>
            <a:ext cx="4943475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Of ER Diagram</a:t>
            </a:r>
            <a:endParaRPr/>
          </a:p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457200" y="1200150"/>
            <a:ext cx="76200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400"/>
              <a:buFont typeface="Book Antiqua"/>
              <a:buNone/>
            </a:pPr>
            <a:r>
              <a:rPr lang="en" sz="2200"/>
              <a:t>A university consists of a number of departments. Each department offers several courses. A number of modules make up each course. Students enrol in a particular course and take modules towards the completion of that course. Each module is taught by a lecturer from the appropriate department, and each lecturer tutors a group of students</a:t>
            </a: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Entities</a:t>
            </a:r>
            <a:endParaRPr/>
          </a:p>
        </p:txBody>
      </p:sp>
      <p:sp>
        <p:nvSpPr>
          <p:cNvPr id="205" name="Google Shape;205;p21"/>
          <p:cNvSpPr txBox="1"/>
          <p:nvPr>
            <p:ph idx="1" type="body"/>
          </p:nvPr>
        </p:nvSpPr>
        <p:spPr>
          <a:xfrm>
            <a:off x="457200" y="1200150"/>
            <a:ext cx="76200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400"/>
              <a:buFont typeface="Book Antiqua"/>
              <a:buNone/>
            </a:pPr>
            <a:r>
              <a:rPr lang="en" sz="2200"/>
              <a:t>A university consists of a number of </a:t>
            </a:r>
            <a:r>
              <a:rPr b="1" lang="en" sz="2200">
                <a:solidFill>
                  <a:schemeClr val="accent1"/>
                </a:solidFill>
              </a:rPr>
              <a:t>departments</a:t>
            </a:r>
            <a:r>
              <a:rPr lang="en" sz="2200"/>
              <a:t>. Each department offers several </a:t>
            </a:r>
            <a:r>
              <a:rPr b="1" lang="en" sz="2200">
                <a:solidFill>
                  <a:schemeClr val="accent1"/>
                </a:solidFill>
              </a:rPr>
              <a:t>courses</a:t>
            </a:r>
            <a:r>
              <a:rPr lang="en" sz="2200">
                <a:solidFill>
                  <a:schemeClr val="accent1"/>
                </a:solidFill>
              </a:rPr>
              <a:t>. </a:t>
            </a:r>
            <a:r>
              <a:rPr lang="en" sz="2200"/>
              <a:t>A number of </a:t>
            </a:r>
            <a:r>
              <a:rPr b="1" lang="en" sz="2200">
                <a:solidFill>
                  <a:schemeClr val="accent1"/>
                </a:solidFill>
              </a:rPr>
              <a:t>modules</a:t>
            </a:r>
            <a:r>
              <a:rPr lang="en" sz="2200"/>
              <a:t> make up each course. </a:t>
            </a:r>
            <a:r>
              <a:rPr b="1" lang="en" sz="2200">
                <a:solidFill>
                  <a:schemeClr val="accent1"/>
                </a:solidFill>
              </a:rPr>
              <a:t>Students</a:t>
            </a:r>
            <a:r>
              <a:rPr lang="en" sz="2200"/>
              <a:t> enrol in a particular course and take modules towards the completion of that course. Each module is taught by a </a:t>
            </a:r>
            <a:r>
              <a:rPr b="1" lang="en" sz="2200">
                <a:solidFill>
                  <a:schemeClr val="accent1"/>
                </a:solidFill>
              </a:rPr>
              <a:t>lecturer</a:t>
            </a:r>
            <a:r>
              <a:rPr lang="en" sz="2200"/>
              <a:t> from the appropriate department, and each lecturer tutors a group of students</a:t>
            </a:r>
            <a:endParaRPr sz="2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Relationships</a:t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457200" y="1200150"/>
            <a:ext cx="76200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2200"/>
              <a:t>A university consists of a number of departments. Each department </a:t>
            </a:r>
            <a:r>
              <a:rPr b="1" lang="en" sz="2200">
                <a:solidFill>
                  <a:schemeClr val="accent1"/>
                </a:solidFill>
              </a:rPr>
              <a:t>offers</a:t>
            </a:r>
            <a:r>
              <a:rPr lang="en" sz="2200"/>
              <a:t> several courses. A number of modules </a:t>
            </a:r>
            <a:r>
              <a:rPr b="1" lang="en" sz="2200">
                <a:solidFill>
                  <a:schemeClr val="accent1"/>
                </a:solidFill>
              </a:rPr>
              <a:t>make up</a:t>
            </a:r>
            <a:r>
              <a:rPr lang="en" sz="2200"/>
              <a:t> each course. Students </a:t>
            </a:r>
            <a:r>
              <a:rPr b="1" lang="en" sz="2200">
                <a:solidFill>
                  <a:schemeClr val="accent1"/>
                </a:solidFill>
              </a:rPr>
              <a:t>enrol in</a:t>
            </a:r>
            <a:r>
              <a:rPr lang="en" sz="2200"/>
              <a:t> a particular course and </a:t>
            </a:r>
            <a:r>
              <a:rPr b="1" lang="en" sz="2200">
                <a:solidFill>
                  <a:schemeClr val="accent1"/>
                </a:solidFill>
              </a:rPr>
              <a:t>take</a:t>
            </a:r>
            <a:r>
              <a:rPr lang="en" sz="2200"/>
              <a:t> modules towards the completion of that course. Each module is </a:t>
            </a:r>
            <a:r>
              <a:rPr b="1" lang="en" sz="2200">
                <a:solidFill>
                  <a:schemeClr val="accent1"/>
                </a:solidFill>
              </a:rPr>
              <a:t>taught by</a:t>
            </a:r>
            <a:r>
              <a:rPr lang="en" sz="2200"/>
              <a:t> a lecturer </a:t>
            </a:r>
            <a:r>
              <a:rPr b="1" lang="en" sz="2200">
                <a:solidFill>
                  <a:schemeClr val="accent1"/>
                </a:solidFill>
              </a:rPr>
              <a:t>from the</a:t>
            </a:r>
            <a:r>
              <a:rPr lang="en" sz="2200"/>
              <a:t> appropriate department, and each lecturer </a:t>
            </a:r>
            <a:r>
              <a:rPr b="1" lang="en" sz="2200">
                <a:solidFill>
                  <a:schemeClr val="accent1"/>
                </a:solidFill>
              </a:rPr>
              <a:t>tutors</a:t>
            </a:r>
            <a:r>
              <a:rPr lang="en" sz="2200"/>
              <a:t> a group of students</a:t>
            </a:r>
            <a:endParaRPr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3695700" y="28370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342900" y="28370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3619500" y="20369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695700" y="42086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048500" y="28370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71500" y="1232863"/>
            <a:ext cx="79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Entities: Department, Course, Module, Lecturer, 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3695700" y="27678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342900" y="29869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3619500" y="19677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3695700" y="41394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7048500" y="276780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609600" y="1759875"/>
            <a:ext cx="1234500" cy="6651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24"/>
          <p:cNvCxnSpPr>
            <a:stCxn id="230" idx="1"/>
            <a:endCxn id="233" idx="3"/>
          </p:cNvCxnSpPr>
          <p:nvPr/>
        </p:nvCxnSpPr>
        <p:spPr>
          <a:xfrm rot="10800000">
            <a:off x="1844100" y="2092500"/>
            <a:ext cx="1775400" cy="7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24"/>
          <p:cNvCxnSpPr>
            <a:stCxn id="233" idx="2"/>
            <a:endCxn id="229" idx="0"/>
          </p:cNvCxnSpPr>
          <p:nvPr/>
        </p:nvCxnSpPr>
        <p:spPr>
          <a:xfrm flipH="1">
            <a:off x="1219050" y="2424975"/>
            <a:ext cx="7800" cy="56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24"/>
          <p:cNvSpPr/>
          <p:nvPr/>
        </p:nvSpPr>
        <p:spPr>
          <a:xfrm flipH="1" rot="5400000">
            <a:off x="1162064" y="27947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609600" y="1116725"/>
            <a:ext cx="79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department </a:t>
            </a: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several courses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4623000" y="2571738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3048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3581400" y="17716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3657600" y="39433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70104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2286000" y="2514600"/>
            <a:ext cx="17022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6096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endParaRPr b="0" i="0" sz="15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25"/>
          <p:cNvCxnSpPr>
            <a:stCxn id="244" idx="3"/>
            <a:endCxn id="248" idx="1"/>
          </p:cNvCxnSpPr>
          <p:nvPr/>
        </p:nvCxnSpPr>
        <p:spPr>
          <a:xfrm>
            <a:off x="20574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25"/>
          <p:cNvCxnSpPr>
            <a:stCxn id="248" idx="3"/>
            <a:endCxn id="243" idx="1"/>
          </p:cNvCxnSpPr>
          <p:nvPr/>
        </p:nvCxnSpPr>
        <p:spPr>
          <a:xfrm>
            <a:off x="3988200" y="2771850"/>
            <a:ext cx="634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25"/>
          <p:cNvCxnSpPr>
            <a:stCxn id="245" idx="1"/>
            <a:endCxn id="249" idx="3"/>
          </p:cNvCxnSpPr>
          <p:nvPr/>
        </p:nvCxnSpPr>
        <p:spPr>
          <a:xfrm rot="10800000">
            <a:off x="1752600" y="1971750"/>
            <a:ext cx="18288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25"/>
          <p:cNvCxnSpPr>
            <a:stCxn id="249" idx="2"/>
            <a:endCxn id="244" idx="0"/>
          </p:cNvCxnSpPr>
          <p:nvPr/>
        </p:nvCxnSpPr>
        <p:spPr>
          <a:xfrm>
            <a:off x="1181100" y="2229000"/>
            <a:ext cx="0" cy="3429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25"/>
          <p:cNvSpPr/>
          <p:nvPr/>
        </p:nvSpPr>
        <p:spPr>
          <a:xfrm flipH="1">
            <a:off x="4457712" y="2687875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5" name="Google Shape;255;p25"/>
          <p:cNvSpPr/>
          <p:nvPr/>
        </p:nvSpPr>
        <p:spPr>
          <a:xfrm flipH="1" rot="5400000">
            <a:off x="11215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20574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609600" y="1116725"/>
            <a:ext cx="79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number of modules </a:t>
            </a:r>
            <a:r>
              <a:rPr b="0" i="0" lang="en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make up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courses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4072775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3048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3581400" y="17716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3657600" y="39433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70104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2286000" y="2415900"/>
            <a:ext cx="1433400" cy="6531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Includes</a:t>
            </a:r>
            <a:endParaRPr b="0" i="0" sz="10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6096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endParaRPr b="0" i="0" sz="10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609600" y="3886200"/>
            <a:ext cx="1143000" cy="6531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Enrols In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26"/>
          <p:cNvCxnSpPr>
            <a:stCxn id="264" idx="3"/>
            <a:endCxn id="268" idx="1"/>
          </p:cNvCxnSpPr>
          <p:nvPr/>
        </p:nvCxnSpPr>
        <p:spPr>
          <a:xfrm flipH="1" rot="10800000">
            <a:off x="2057400" y="2742450"/>
            <a:ext cx="228600" cy="294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6"/>
          <p:cNvCxnSpPr>
            <a:stCxn id="268" idx="3"/>
            <a:endCxn id="263" idx="1"/>
          </p:cNvCxnSpPr>
          <p:nvPr/>
        </p:nvCxnSpPr>
        <p:spPr>
          <a:xfrm>
            <a:off x="3719400" y="2742450"/>
            <a:ext cx="353400" cy="294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26"/>
          <p:cNvCxnSpPr>
            <a:stCxn id="265" idx="1"/>
            <a:endCxn id="269" idx="3"/>
          </p:cNvCxnSpPr>
          <p:nvPr/>
        </p:nvCxnSpPr>
        <p:spPr>
          <a:xfrm rot="10800000">
            <a:off x="1752600" y="1971750"/>
            <a:ext cx="18288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26"/>
          <p:cNvCxnSpPr>
            <a:stCxn id="269" idx="2"/>
            <a:endCxn id="264" idx="0"/>
          </p:cNvCxnSpPr>
          <p:nvPr/>
        </p:nvCxnSpPr>
        <p:spPr>
          <a:xfrm>
            <a:off x="1181100" y="2229000"/>
            <a:ext cx="0" cy="3429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26"/>
          <p:cNvCxnSpPr>
            <a:stCxn id="264" idx="2"/>
            <a:endCxn id="270" idx="0"/>
          </p:cNvCxnSpPr>
          <p:nvPr/>
        </p:nvCxnSpPr>
        <p:spPr>
          <a:xfrm>
            <a:off x="1181100" y="297195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26"/>
          <p:cNvCxnSpPr>
            <a:stCxn id="270" idx="3"/>
            <a:endCxn id="266" idx="1"/>
          </p:cNvCxnSpPr>
          <p:nvPr/>
        </p:nvCxnSpPr>
        <p:spPr>
          <a:xfrm flipH="1" rot="10800000">
            <a:off x="1752600" y="4143450"/>
            <a:ext cx="1905000" cy="6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26"/>
          <p:cNvSpPr/>
          <p:nvPr/>
        </p:nvSpPr>
        <p:spPr>
          <a:xfrm flipH="1">
            <a:off x="3505212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8" name="Google Shape;278;p26"/>
          <p:cNvSpPr/>
          <p:nvPr/>
        </p:nvSpPr>
        <p:spPr>
          <a:xfrm flipH="1">
            <a:off x="3920387" y="2687875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9" name="Google Shape;279;p26"/>
          <p:cNvSpPr/>
          <p:nvPr/>
        </p:nvSpPr>
        <p:spPr>
          <a:xfrm flipH="1" rot="5400000">
            <a:off x="11215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20574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609600" y="1116725"/>
            <a:ext cx="79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 </a:t>
            </a:r>
            <a:r>
              <a:rPr b="0" i="0" lang="en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enrol in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particular 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36576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3048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3581400" y="17716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3657600" y="39433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70104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22860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Includes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6096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609600" y="38862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Enrols In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3962400" y="32004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27"/>
          <p:cNvCxnSpPr>
            <a:stCxn id="288" idx="3"/>
            <a:endCxn id="292" idx="1"/>
          </p:cNvCxnSpPr>
          <p:nvPr/>
        </p:nvCxnSpPr>
        <p:spPr>
          <a:xfrm>
            <a:off x="20574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27"/>
          <p:cNvCxnSpPr>
            <a:stCxn id="292" idx="3"/>
            <a:endCxn id="287" idx="1"/>
          </p:cNvCxnSpPr>
          <p:nvPr/>
        </p:nvCxnSpPr>
        <p:spPr>
          <a:xfrm>
            <a:off x="34290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27"/>
          <p:cNvCxnSpPr>
            <a:stCxn id="289" idx="1"/>
            <a:endCxn id="293" idx="3"/>
          </p:cNvCxnSpPr>
          <p:nvPr/>
        </p:nvCxnSpPr>
        <p:spPr>
          <a:xfrm rot="10800000">
            <a:off x="1752600" y="1971750"/>
            <a:ext cx="18288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27"/>
          <p:cNvCxnSpPr>
            <a:stCxn id="293" idx="2"/>
            <a:endCxn id="288" idx="0"/>
          </p:cNvCxnSpPr>
          <p:nvPr/>
        </p:nvCxnSpPr>
        <p:spPr>
          <a:xfrm>
            <a:off x="1181100" y="2229000"/>
            <a:ext cx="0" cy="3429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27"/>
          <p:cNvCxnSpPr>
            <a:stCxn id="288" idx="2"/>
            <a:endCxn id="294" idx="0"/>
          </p:cNvCxnSpPr>
          <p:nvPr/>
        </p:nvCxnSpPr>
        <p:spPr>
          <a:xfrm>
            <a:off x="1181100" y="297195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27"/>
          <p:cNvCxnSpPr>
            <a:stCxn id="294" idx="3"/>
            <a:endCxn id="290" idx="1"/>
          </p:cNvCxnSpPr>
          <p:nvPr/>
        </p:nvCxnSpPr>
        <p:spPr>
          <a:xfrm>
            <a:off x="1752600" y="4143450"/>
            <a:ext cx="19050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27"/>
          <p:cNvCxnSpPr>
            <a:stCxn id="290" idx="0"/>
            <a:endCxn id="295" idx="2"/>
          </p:cNvCxnSpPr>
          <p:nvPr/>
        </p:nvCxnSpPr>
        <p:spPr>
          <a:xfrm rot="10800000">
            <a:off x="4533900" y="371475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27"/>
          <p:cNvCxnSpPr>
            <a:stCxn id="295" idx="0"/>
            <a:endCxn id="287" idx="2"/>
          </p:cNvCxnSpPr>
          <p:nvPr/>
        </p:nvCxnSpPr>
        <p:spPr>
          <a:xfrm rot="10800000">
            <a:off x="4533900" y="297180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27"/>
          <p:cNvSpPr/>
          <p:nvPr/>
        </p:nvSpPr>
        <p:spPr>
          <a:xfrm flipH="1">
            <a:off x="3505212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05" name="Google Shape;305;p27"/>
          <p:cNvSpPr/>
          <p:nvPr/>
        </p:nvSpPr>
        <p:spPr>
          <a:xfrm rot="5400000">
            <a:off x="4474337" y="2917017"/>
            <a:ext cx="114318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06" name="Google Shape;306;p27"/>
          <p:cNvSpPr/>
          <p:nvPr/>
        </p:nvSpPr>
        <p:spPr>
          <a:xfrm flipH="1" rot="5400000">
            <a:off x="4474364" y="37742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07" name="Google Shape;307;p27"/>
          <p:cNvSpPr/>
          <p:nvPr/>
        </p:nvSpPr>
        <p:spPr>
          <a:xfrm flipH="1">
            <a:off x="3505212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08" name="Google Shape;308;p27"/>
          <p:cNvSpPr/>
          <p:nvPr/>
        </p:nvSpPr>
        <p:spPr>
          <a:xfrm flipH="1" rot="5400000">
            <a:off x="11215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20574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609600" y="1371600"/>
            <a:ext cx="79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 … </a:t>
            </a:r>
            <a:r>
              <a:rPr b="0" i="0" lang="en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take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36576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3048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3581400" y="17716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3657600" y="39433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70104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22860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Includes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6096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609600" y="38862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Enrols In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3962400" y="32004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Takes</a:t>
            </a:r>
            <a:endParaRPr b="0" i="0" sz="11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56388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28"/>
          <p:cNvCxnSpPr>
            <a:stCxn id="317" idx="3"/>
            <a:endCxn id="321" idx="1"/>
          </p:cNvCxnSpPr>
          <p:nvPr/>
        </p:nvCxnSpPr>
        <p:spPr>
          <a:xfrm>
            <a:off x="20574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28"/>
          <p:cNvCxnSpPr>
            <a:stCxn id="321" idx="3"/>
            <a:endCxn id="316" idx="1"/>
          </p:cNvCxnSpPr>
          <p:nvPr/>
        </p:nvCxnSpPr>
        <p:spPr>
          <a:xfrm>
            <a:off x="34290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8"/>
          <p:cNvCxnSpPr>
            <a:stCxn id="316" idx="3"/>
            <a:endCxn id="325" idx="1"/>
          </p:cNvCxnSpPr>
          <p:nvPr/>
        </p:nvCxnSpPr>
        <p:spPr>
          <a:xfrm>
            <a:off x="54102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28"/>
          <p:cNvCxnSpPr>
            <a:stCxn id="325" idx="3"/>
            <a:endCxn id="320" idx="1"/>
          </p:cNvCxnSpPr>
          <p:nvPr/>
        </p:nvCxnSpPr>
        <p:spPr>
          <a:xfrm>
            <a:off x="67818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28"/>
          <p:cNvCxnSpPr>
            <a:stCxn id="318" idx="1"/>
            <a:endCxn id="322" idx="3"/>
          </p:cNvCxnSpPr>
          <p:nvPr/>
        </p:nvCxnSpPr>
        <p:spPr>
          <a:xfrm rot="10800000">
            <a:off x="1752600" y="1971750"/>
            <a:ext cx="18288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28"/>
          <p:cNvCxnSpPr>
            <a:stCxn id="322" idx="2"/>
            <a:endCxn id="317" idx="0"/>
          </p:cNvCxnSpPr>
          <p:nvPr/>
        </p:nvCxnSpPr>
        <p:spPr>
          <a:xfrm>
            <a:off x="1181100" y="2229000"/>
            <a:ext cx="0" cy="3429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28"/>
          <p:cNvCxnSpPr>
            <a:stCxn id="317" idx="2"/>
            <a:endCxn id="323" idx="0"/>
          </p:cNvCxnSpPr>
          <p:nvPr/>
        </p:nvCxnSpPr>
        <p:spPr>
          <a:xfrm>
            <a:off x="1181100" y="297195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28"/>
          <p:cNvCxnSpPr>
            <a:stCxn id="323" idx="3"/>
            <a:endCxn id="319" idx="1"/>
          </p:cNvCxnSpPr>
          <p:nvPr/>
        </p:nvCxnSpPr>
        <p:spPr>
          <a:xfrm>
            <a:off x="1752600" y="4143450"/>
            <a:ext cx="19050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28"/>
          <p:cNvCxnSpPr>
            <a:stCxn id="319" idx="0"/>
            <a:endCxn id="324" idx="2"/>
          </p:cNvCxnSpPr>
          <p:nvPr/>
        </p:nvCxnSpPr>
        <p:spPr>
          <a:xfrm rot="10800000">
            <a:off x="4533900" y="371475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28"/>
          <p:cNvCxnSpPr>
            <a:stCxn id="324" idx="0"/>
            <a:endCxn id="316" idx="2"/>
          </p:cNvCxnSpPr>
          <p:nvPr/>
        </p:nvCxnSpPr>
        <p:spPr>
          <a:xfrm rot="10800000">
            <a:off x="4533900" y="297180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28"/>
          <p:cNvSpPr/>
          <p:nvPr/>
        </p:nvSpPr>
        <p:spPr>
          <a:xfrm flipH="1">
            <a:off x="3505212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7" name="Google Shape;337;p28"/>
          <p:cNvSpPr/>
          <p:nvPr/>
        </p:nvSpPr>
        <p:spPr>
          <a:xfrm rot="5400000">
            <a:off x="4474337" y="2917017"/>
            <a:ext cx="114318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8" name="Google Shape;338;p28"/>
          <p:cNvSpPr/>
          <p:nvPr/>
        </p:nvSpPr>
        <p:spPr>
          <a:xfrm flipH="1" rot="5400000">
            <a:off x="4474364" y="37742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9" name="Google Shape;339;p28"/>
          <p:cNvSpPr/>
          <p:nvPr/>
        </p:nvSpPr>
        <p:spPr>
          <a:xfrm flipH="1">
            <a:off x="3505212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40" name="Google Shape;340;p28"/>
          <p:cNvSpPr/>
          <p:nvPr/>
        </p:nvSpPr>
        <p:spPr>
          <a:xfrm flipH="1" rot="5400000">
            <a:off x="11215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54102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20574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609600" y="1371600"/>
            <a:ext cx="79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module is </a:t>
            </a:r>
            <a:r>
              <a:rPr b="0" i="0" lang="en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taught by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349" name="Google Shape;349;p29"/>
          <p:cNvSpPr/>
          <p:nvPr/>
        </p:nvSpPr>
        <p:spPr>
          <a:xfrm>
            <a:off x="36576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3048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3581400" y="17716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3657600" y="39433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70104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22860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Includes</a:t>
            </a:r>
            <a:endParaRPr b="0" i="0" sz="20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6096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endParaRPr b="0" i="0" sz="20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609600" y="38862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Enrols In</a:t>
            </a:r>
            <a:endParaRPr b="0" i="0" sz="20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3962400" y="32004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Takes</a:t>
            </a:r>
            <a:endParaRPr b="0" i="0" sz="20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73152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Employs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56388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 b="0" i="0" sz="20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29"/>
          <p:cNvCxnSpPr>
            <a:stCxn id="350" idx="3"/>
            <a:endCxn id="354" idx="1"/>
          </p:cNvCxnSpPr>
          <p:nvPr/>
        </p:nvCxnSpPr>
        <p:spPr>
          <a:xfrm>
            <a:off x="20574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29"/>
          <p:cNvCxnSpPr>
            <a:stCxn id="354" idx="3"/>
            <a:endCxn id="349" idx="1"/>
          </p:cNvCxnSpPr>
          <p:nvPr/>
        </p:nvCxnSpPr>
        <p:spPr>
          <a:xfrm>
            <a:off x="34290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29"/>
          <p:cNvCxnSpPr>
            <a:stCxn id="349" idx="3"/>
            <a:endCxn id="359" idx="1"/>
          </p:cNvCxnSpPr>
          <p:nvPr/>
        </p:nvCxnSpPr>
        <p:spPr>
          <a:xfrm>
            <a:off x="54102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29"/>
          <p:cNvCxnSpPr>
            <a:stCxn id="359" idx="3"/>
            <a:endCxn id="353" idx="1"/>
          </p:cNvCxnSpPr>
          <p:nvPr/>
        </p:nvCxnSpPr>
        <p:spPr>
          <a:xfrm>
            <a:off x="67818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29"/>
          <p:cNvCxnSpPr>
            <a:stCxn id="353" idx="0"/>
            <a:endCxn id="358" idx="2"/>
          </p:cNvCxnSpPr>
          <p:nvPr/>
        </p:nvCxnSpPr>
        <p:spPr>
          <a:xfrm rot="10800000">
            <a:off x="7886700" y="2229150"/>
            <a:ext cx="0" cy="34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29"/>
          <p:cNvCxnSpPr>
            <a:stCxn id="358" idx="1"/>
            <a:endCxn id="351" idx="3"/>
          </p:cNvCxnSpPr>
          <p:nvPr/>
        </p:nvCxnSpPr>
        <p:spPr>
          <a:xfrm rot="10800000">
            <a:off x="5334000" y="1971750"/>
            <a:ext cx="1981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29"/>
          <p:cNvCxnSpPr>
            <a:stCxn id="351" idx="1"/>
            <a:endCxn id="355" idx="3"/>
          </p:cNvCxnSpPr>
          <p:nvPr/>
        </p:nvCxnSpPr>
        <p:spPr>
          <a:xfrm rot="10800000">
            <a:off x="1752600" y="1971750"/>
            <a:ext cx="18288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29"/>
          <p:cNvCxnSpPr>
            <a:stCxn id="355" idx="2"/>
            <a:endCxn id="350" idx="0"/>
          </p:cNvCxnSpPr>
          <p:nvPr/>
        </p:nvCxnSpPr>
        <p:spPr>
          <a:xfrm>
            <a:off x="1181100" y="2229000"/>
            <a:ext cx="0" cy="3429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29"/>
          <p:cNvCxnSpPr>
            <a:stCxn id="350" idx="2"/>
            <a:endCxn id="356" idx="0"/>
          </p:cNvCxnSpPr>
          <p:nvPr/>
        </p:nvCxnSpPr>
        <p:spPr>
          <a:xfrm>
            <a:off x="1181100" y="297195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29"/>
          <p:cNvCxnSpPr>
            <a:stCxn id="356" idx="3"/>
            <a:endCxn id="352" idx="1"/>
          </p:cNvCxnSpPr>
          <p:nvPr/>
        </p:nvCxnSpPr>
        <p:spPr>
          <a:xfrm>
            <a:off x="1752600" y="4143450"/>
            <a:ext cx="19050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29"/>
          <p:cNvCxnSpPr>
            <a:stCxn id="352" idx="0"/>
            <a:endCxn id="357" idx="2"/>
          </p:cNvCxnSpPr>
          <p:nvPr/>
        </p:nvCxnSpPr>
        <p:spPr>
          <a:xfrm rot="10800000">
            <a:off x="4533900" y="371475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29"/>
          <p:cNvCxnSpPr>
            <a:stCxn id="357" idx="0"/>
            <a:endCxn id="349" idx="2"/>
          </p:cNvCxnSpPr>
          <p:nvPr/>
        </p:nvCxnSpPr>
        <p:spPr>
          <a:xfrm rot="10800000">
            <a:off x="4533900" y="297180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29"/>
          <p:cNvSpPr/>
          <p:nvPr/>
        </p:nvSpPr>
        <p:spPr>
          <a:xfrm flipH="1">
            <a:off x="3505212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73" name="Google Shape;373;p29"/>
          <p:cNvSpPr/>
          <p:nvPr/>
        </p:nvSpPr>
        <p:spPr>
          <a:xfrm rot="5400000">
            <a:off x="4474337" y="2917017"/>
            <a:ext cx="114318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74" name="Google Shape;374;p29"/>
          <p:cNvSpPr/>
          <p:nvPr/>
        </p:nvSpPr>
        <p:spPr>
          <a:xfrm flipH="1" rot="5400000">
            <a:off x="4474364" y="37742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75" name="Google Shape;375;p29"/>
          <p:cNvSpPr/>
          <p:nvPr/>
        </p:nvSpPr>
        <p:spPr>
          <a:xfrm flipH="1">
            <a:off x="3505212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76" name="Google Shape;376;p29"/>
          <p:cNvSpPr/>
          <p:nvPr/>
        </p:nvSpPr>
        <p:spPr>
          <a:xfrm flipH="1" rot="5400000">
            <a:off x="78271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77" name="Google Shape;377;p29"/>
          <p:cNvSpPr/>
          <p:nvPr/>
        </p:nvSpPr>
        <p:spPr>
          <a:xfrm flipH="1" rot="5400000">
            <a:off x="11215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54102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20574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80" name="Google Shape;380;p29"/>
          <p:cNvSpPr txBox="1"/>
          <p:nvPr/>
        </p:nvSpPr>
        <p:spPr>
          <a:xfrm>
            <a:off x="609600" y="1371600"/>
            <a:ext cx="79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lecturer </a:t>
            </a:r>
            <a:r>
              <a:rPr b="0" i="0" lang="en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from the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appropriate 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>
            <a:off x="36576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0"/>
          <p:cNvSpPr/>
          <p:nvPr/>
        </p:nvSpPr>
        <p:spPr>
          <a:xfrm>
            <a:off x="3048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3581400" y="17716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3657600" y="39433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0"/>
          <p:cNvSpPr/>
          <p:nvPr/>
        </p:nvSpPr>
        <p:spPr>
          <a:xfrm>
            <a:off x="70104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0"/>
          <p:cNvSpPr/>
          <p:nvPr/>
        </p:nvSpPr>
        <p:spPr>
          <a:xfrm>
            <a:off x="22860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Includes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6096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7315200" y="38862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Tutors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609600" y="38862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Enrols In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0"/>
          <p:cNvSpPr/>
          <p:nvPr/>
        </p:nvSpPr>
        <p:spPr>
          <a:xfrm>
            <a:off x="3962400" y="32004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Takes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0"/>
          <p:cNvSpPr/>
          <p:nvPr/>
        </p:nvSpPr>
        <p:spPr>
          <a:xfrm>
            <a:off x="7246650" y="1714425"/>
            <a:ext cx="12753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Employs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0"/>
          <p:cNvSpPr/>
          <p:nvPr/>
        </p:nvSpPr>
        <p:spPr>
          <a:xfrm>
            <a:off x="56388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 b="0" i="0" sz="800" u="none" cap="none" strike="noStrik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30"/>
          <p:cNvCxnSpPr>
            <a:stCxn id="387" idx="3"/>
            <a:endCxn id="391" idx="1"/>
          </p:cNvCxnSpPr>
          <p:nvPr/>
        </p:nvCxnSpPr>
        <p:spPr>
          <a:xfrm>
            <a:off x="20574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30"/>
          <p:cNvCxnSpPr>
            <a:stCxn id="391" idx="3"/>
            <a:endCxn id="386" idx="1"/>
          </p:cNvCxnSpPr>
          <p:nvPr/>
        </p:nvCxnSpPr>
        <p:spPr>
          <a:xfrm>
            <a:off x="34290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30"/>
          <p:cNvCxnSpPr>
            <a:stCxn id="386" idx="3"/>
            <a:endCxn id="397" idx="1"/>
          </p:cNvCxnSpPr>
          <p:nvPr/>
        </p:nvCxnSpPr>
        <p:spPr>
          <a:xfrm>
            <a:off x="54102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30"/>
          <p:cNvCxnSpPr>
            <a:stCxn id="397" idx="3"/>
            <a:endCxn id="390" idx="1"/>
          </p:cNvCxnSpPr>
          <p:nvPr/>
        </p:nvCxnSpPr>
        <p:spPr>
          <a:xfrm>
            <a:off x="67818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30"/>
          <p:cNvCxnSpPr>
            <a:stCxn id="390" idx="0"/>
            <a:endCxn id="396" idx="2"/>
          </p:cNvCxnSpPr>
          <p:nvPr/>
        </p:nvCxnSpPr>
        <p:spPr>
          <a:xfrm rot="10800000">
            <a:off x="7884300" y="2228850"/>
            <a:ext cx="2400" cy="3429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30"/>
          <p:cNvCxnSpPr>
            <a:stCxn id="396" idx="1"/>
            <a:endCxn id="388" idx="3"/>
          </p:cNvCxnSpPr>
          <p:nvPr/>
        </p:nvCxnSpPr>
        <p:spPr>
          <a:xfrm rot="10800000">
            <a:off x="5333850" y="1971675"/>
            <a:ext cx="19128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30"/>
          <p:cNvCxnSpPr>
            <a:stCxn id="388" idx="1"/>
            <a:endCxn id="392" idx="3"/>
          </p:cNvCxnSpPr>
          <p:nvPr/>
        </p:nvCxnSpPr>
        <p:spPr>
          <a:xfrm rot="10800000">
            <a:off x="1752600" y="1971750"/>
            <a:ext cx="18288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30"/>
          <p:cNvCxnSpPr>
            <a:stCxn id="392" idx="2"/>
            <a:endCxn id="387" idx="0"/>
          </p:cNvCxnSpPr>
          <p:nvPr/>
        </p:nvCxnSpPr>
        <p:spPr>
          <a:xfrm>
            <a:off x="1181100" y="2229000"/>
            <a:ext cx="0" cy="3429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30"/>
          <p:cNvCxnSpPr>
            <a:stCxn id="387" idx="2"/>
            <a:endCxn id="394" idx="0"/>
          </p:cNvCxnSpPr>
          <p:nvPr/>
        </p:nvCxnSpPr>
        <p:spPr>
          <a:xfrm>
            <a:off x="1181100" y="297195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30"/>
          <p:cNvCxnSpPr>
            <a:stCxn id="394" idx="3"/>
            <a:endCxn id="389" idx="1"/>
          </p:cNvCxnSpPr>
          <p:nvPr/>
        </p:nvCxnSpPr>
        <p:spPr>
          <a:xfrm>
            <a:off x="1752600" y="4143450"/>
            <a:ext cx="1905000" cy="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30"/>
          <p:cNvCxnSpPr>
            <a:stCxn id="389" idx="0"/>
            <a:endCxn id="395" idx="2"/>
          </p:cNvCxnSpPr>
          <p:nvPr/>
        </p:nvCxnSpPr>
        <p:spPr>
          <a:xfrm rot="10800000">
            <a:off x="4533900" y="371475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30"/>
          <p:cNvCxnSpPr>
            <a:stCxn id="395" idx="0"/>
            <a:endCxn id="386" idx="2"/>
          </p:cNvCxnSpPr>
          <p:nvPr/>
        </p:nvCxnSpPr>
        <p:spPr>
          <a:xfrm rot="10800000">
            <a:off x="4533900" y="297180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30"/>
          <p:cNvCxnSpPr>
            <a:stCxn id="389" idx="3"/>
            <a:endCxn id="393" idx="1"/>
          </p:cNvCxnSpPr>
          <p:nvPr/>
        </p:nvCxnSpPr>
        <p:spPr>
          <a:xfrm>
            <a:off x="5410200" y="4143450"/>
            <a:ext cx="190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30"/>
          <p:cNvCxnSpPr>
            <a:stCxn id="393" idx="0"/>
            <a:endCxn id="390" idx="2"/>
          </p:cNvCxnSpPr>
          <p:nvPr/>
        </p:nvCxnSpPr>
        <p:spPr>
          <a:xfrm rot="10800000">
            <a:off x="7886700" y="2972100"/>
            <a:ext cx="0" cy="91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30"/>
          <p:cNvSpPr/>
          <p:nvPr/>
        </p:nvSpPr>
        <p:spPr>
          <a:xfrm>
            <a:off x="5410200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13" name="Google Shape;413;p30"/>
          <p:cNvSpPr/>
          <p:nvPr/>
        </p:nvSpPr>
        <p:spPr>
          <a:xfrm flipH="1">
            <a:off x="3505212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14" name="Google Shape;414;p30"/>
          <p:cNvSpPr/>
          <p:nvPr/>
        </p:nvSpPr>
        <p:spPr>
          <a:xfrm rot="5400000">
            <a:off x="4474337" y="2917017"/>
            <a:ext cx="114318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15" name="Google Shape;415;p30"/>
          <p:cNvSpPr/>
          <p:nvPr/>
        </p:nvSpPr>
        <p:spPr>
          <a:xfrm flipH="1" rot="5400000">
            <a:off x="4474364" y="37742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16" name="Google Shape;416;p30"/>
          <p:cNvSpPr/>
          <p:nvPr/>
        </p:nvSpPr>
        <p:spPr>
          <a:xfrm flipH="1">
            <a:off x="3505212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17" name="Google Shape;417;p30"/>
          <p:cNvSpPr/>
          <p:nvPr/>
        </p:nvSpPr>
        <p:spPr>
          <a:xfrm flipH="1" rot="5400000">
            <a:off x="78271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18" name="Google Shape;418;p30"/>
          <p:cNvSpPr/>
          <p:nvPr/>
        </p:nvSpPr>
        <p:spPr>
          <a:xfrm flipH="1" rot="5400000">
            <a:off x="11215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54102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20" name="Google Shape;420;p30"/>
          <p:cNvSpPr/>
          <p:nvPr/>
        </p:nvSpPr>
        <p:spPr>
          <a:xfrm>
            <a:off x="20574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609600" y="1371600"/>
            <a:ext cx="79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lecturer </a:t>
            </a:r>
            <a:r>
              <a:rPr b="0" i="0" lang="en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tutors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group of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36576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3048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3581400" y="17716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1"/>
          <p:cNvSpPr/>
          <p:nvPr/>
        </p:nvSpPr>
        <p:spPr>
          <a:xfrm>
            <a:off x="3657600" y="39433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70104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1"/>
          <p:cNvSpPr/>
          <p:nvPr/>
        </p:nvSpPr>
        <p:spPr>
          <a:xfrm>
            <a:off x="22860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1"/>
          <p:cNvSpPr/>
          <p:nvPr/>
        </p:nvSpPr>
        <p:spPr>
          <a:xfrm>
            <a:off x="6096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7315200" y="38862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Tutors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609600" y="38862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Enrols In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1"/>
          <p:cNvSpPr/>
          <p:nvPr/>
        </p:nvSpPr>
        <p:spPr>
          <a:xfrm>
            <a:off x="3962400" y="32004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73152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Employs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56388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31"/>
          <p:cNvCxnSpPr>
            <a:stCxn id="428" idx="3"/>
            <a:endCxn id="432" idx="1"/>
          </p:cNvCxnSpPr>
          <p:nvPr/>
        </p:nvCxnSpPr>
        <p:spPr>
          <a:xfrm>
            <a:off x="20574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31"/>
          <p:cNvCxnSpPr>
            <a:stCxn id="432" idx="3"/>
            <a:endCxn id="427" idx="1"/>
          </p:cNvCxnSpPr>
          <p:nvPr/>
        </p:nvCxnSpPr>
        <p:spPr>
          <a:xfrm>
            <a:off x="34290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31"/>
          <p:cNvCxnSpPr>
            <a:stCxn id="427" idx="3"/>
            <a:endCxn id="438" idx="1"/>
          </p:cNvCxnSpPr>
          <p:nvPr/>
        </p:nvCxnSpPr>
        <p:spPr>
          <a:xfrm>
            <a:off x="54102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31"/>
          <p:cNvCxnSpPr>
            <a:stCxn id="438" idx="3"/>
            <a:endCxn id="431" idx="1"/>
          </p:cNvCxnSpPr>
          <p:nvPr/>
        </p:nvCxnSpPr>
        <p:spPr>
          <a:xfrm>
            <a:off x="67818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31"/>
          <p:cNvCxnSpPr>
            <a:stCxn id="431" idx="0"/>
            <a:endCxn id="437" idx="2"/>
          </p:cNvCxnSpPr>
          <p:nvPr/>
        </p:nvCxnSpPr>
        <p:spPr>
          <a:xfrm rot="10800000">
            <a:off x="7886700" y="2229150"/>
            <a:ext cx="0" cy="34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31"/>
          <p:cNvCxnSpPr>
            <a:stCxn id="437" idx="1"/>
            <a:endCxn id="429" idx="3"/>
          </p:cNvCxnSpPr>
          <p:nvPr/>
        </p:nvCxnSpPr>
        <p:spPr>
          <a:xfrm rot="10800000">
            <a:off x="5334000" y="1971750"/>
            <a:ext cx="1981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31"/>
          <p:cNvCxnSpPr>
            <a:stCxn id="429" idx="1"/>
            <a:endCxn id="433" idx="3"/>
          </p:cNvCxnSpPr>
          <p:nvPr/>
        </p:nvCxnSpPr>
        <p:spPr>
          <a:xfrm rot="10800000">
            <a:off x="1752600" y="1971750"/>
            <a:ext cx="182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31"/>
          <p:cNvCxnSpPr>
            <a:stCxn id="433" idx="2"/>
            <a:endCxn id="428" idx="0"/>
          </p:cNvCxnSpPr>
          <p:nvPr/>
        </p:nvCxnSpPr>
        <p:spPr>
          <a:xfrm>
            <a:off x="1181100" y="2229000"/>
            <a:ext cx="0" cy="3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31"/>
          <p:cNvCxnSpPr>
            <a:stCxn id="428" idx="2"/>
            <a:endCxn id="435" idx="0"/>
          </p:cNvCxnSpPr>
          <p:nvPr/>
        </p:nvCxnSpPr>
        <p:spPr>
          <a:xfrm>
            <a:off x="1181100" y="297195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31"/>
          <p:cNvCxnSpPr>
            <a:stCxn id="435" idx="3"/>
            <a:endCxn id="430" idx="1"/>
          </p:cNvCxnSpPr>
          <p:nvPr/>
        </p:nvCxnSpPr>
        <p:spPr>
          <a:xfrm>
            <a:off x="1752600" y="4143450"/>
            <a:ext cx="190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31"/>
          <p:cNvCxnSpPr>
            <a:stCxn id="430" idx="0"/>
            <a:endCxn id="436" idx="2"/>
          </p:cNvCxnSpPr>
          <p:nvPr/>
        </p:nvCxnSpPr>
        <p:spPr>
          <a:xfrm rot="10800000">
            <a:off x="4533900" y="371475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31"/>
          <p:cNvCxnSpPr>
            <a:stCxn id="436" idx="0"/>
            <a:endCxn id="427" idx="2"/>
          </p:cNvCxnSpPr>
          <p:nvPr/>
        </p:nvCxnSpPr>
        <p:spPr>
          <a:xfrm rot="10800000">
            <a:off x="4533900" y="297180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31"/>
          <p:cNvCxnSpPr>
            <a:stCxn id="430" idx="3"/>
            <a:endCxn id="434" idx="1"/>
          </p:cNvCxnSpPr>
          <p:nvPr/>
        </p:nvCxnSpPr>
        <p:spPr>
          <a:xfrm>
            <a:off x="5410200" y="4143450"/>
            <a:ext cx="190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31"/>
          <p:cNvCxnSpPr>
            <a:stCxn id="434" idx="0"/>
            <a:endCxn id="431" idx="2"/>
          </p:cNvCxnSpPr>
          <p:nvPr/>
        </p:nvCxnSpPr>
        <p:spPr>
          <a:xfrm rot="10800000">
            <a:off x="7886700" y="2972100"/>
            <a:ext cx="0" cy="91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p31"/>
          <p:cNvSpPr/>
          <p:nvPr/>
        </p:nvSpPr>
        <p:spPr>
          <a:xfrm>
            <a:off x="5410200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>
            <a:off x="3505212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55" name="Google Shape;455;p31"/>
          <p:cNvSpPr/>
          <p:nvPr/>
        </p:nvSpPr>
        <p:spPr>
          <a:xfrm rot="5400000">
            <a:off x="4474337" y="2917017"/>
            <a:ext cx="114318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56" name="Google Shape;456;p31"/>
          <p:cNvSpPr/>
          <p:nvPr/>
        </p:nvSpPr>
        <p:spPr>
          <a:xfrm flipH="1" rot="5400000">
            <a:off x="4474364" y="37742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57" name="Google Shape;457;p31"/>
          <p:cNvSpPr/>
          <p:nvPr/>
        </p:nvSpPr>
        <p:spPr>
          <a:xfrm flipH="1">
            <a:off x="3505212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58" name="Google Shape;458;p31"/>
          <p:cNvSpPr/>
          <p:nvPr/>
        </p:nvSpPr>
        <p:spPr>
          <a:xfrm flipH="1" rot="5400000">
            <a:off x="78271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59" name="Google Shape;459;p31"/>
          <p:cNvSpPr/>
          <p:nvPr/>
        </p:nvSpPr>
        <p:spPr>
          <a:xfrm flipH="1" rot="5400000">
            <a:off x="11215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60" name="Google Shape;460;p31"/>
          <p:cNvSpPr/>
          <p:nvPr/>
        </p:nvSpPr>
        <p:spPr>
          <a:xfrm>
            <a:off x="54102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61" name="Google Shape;461;p31"/>
          <p:cNvSpPr/>
          <p:nvPr/>
        </p:nvSpPr>
        <p:spPr>
          <a:xfrm>
            <a:off x="20574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467" name="Google Shape;467;p32"/>
          <p:cNvSpPr/>
          <p:nvPr/>
        </p:nvSpPr>
        <p:spPr>
          <a:xfrm>
            <a:off x="36576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2"/>
          <p:cNvSpPr/>
          <p:nvPr/>
        </p:nvSpPr>
        <p:spPr>
          <a:xfrm>
            <a:off x="3048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3581400" y="17716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3657600" y="39433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70104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2"/>
          <p:cNvSpPr/>
          <p:nvPr/>
        </p:nvSpPr>
        <p:spPr>
          <a:xfrm>
            <a:off x="22860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2"/>
          <p:cNvSpPr/>
          <p:nvPr/>
        </p:nvSpPr>
        <p:spPr>
          <a:xfrm>
            <a:off x="6096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2"/>
          <p:cNvSpPr/>
          <p:nvPr/>
        </p:nvSpPr>
        <p:spPr>
          <a:xfrm>
            <a:off x="7315200" y="38862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Tutors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609600" y="38862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Enrols In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2"/>
          <p:cNvSpPr/>
          <p:nvPr/>
        </p:nvSpPr>
        <p:spPr>
          <a:xfrm>
            <a:off x="3962400" y="32004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7315200" y="17145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Employs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2"/>
          <p:cNvSpPr/>
          <p:nvPr/>
        </p:nvSpPr>
        <p:spPr>
          <a:xfrm>
            <a:off x="56388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32"/>
          <p:cNvCxnSpPr>
            <a:stCxn id="468" idx="3"/>
            <a:endCxn id="472" idx="1"/>
          </p:cNvCxnSpPr>
          <p:nvPr/>
        </p:nvCxnSpPr>
        <p:spPr>
          <a:xfrm>
            <a:off x="20574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32"/>
          <p:cNvCxnSpPr>
            <a:stCxn id="472" idx="3"/>
            <a:endCxn id="467" idx="1"/>
          </p:cNvCxnSpPr>
          <p:nvPr/>
        </p:nvCxnSpPr>
        <p:spPr>
          <a:xfrm>
            <a:off x="34290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32"/>
          <p:cNvCxnSpPr>
            <a:stCxn id="467" idx="3"/>
            <a:endCxn id="478" idx="1"/>
          </p:cNvCxnSpPr>
          <p:nvPr/>
        </p:nvCxnSpPr>
        <p:spPr>
          <a:xfrm>
            <a:off x="54102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32"/>
          <p:cNvCxnSpPr>
            <a:stCxn id="478" idx="3"/>
            <a:endCxn id="471" idx="1"/>
          </p:cNvCxnSpPr>
          <p:nvPr/>
        </p:nvCxnSpPr>
        <p:spPr>
          <a:xfrm>
            <a:off x="67818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32"/>
          <p:cNvCxnSpPr>
            <a:stCxn id="471" idx="0"/>
            <a:endCxn id="477" idx="2"/>
          </p:cNvCxnSpPr>
          <p:nvPr/>
        </p:nvCxnSpPr>
        <p:spPr>
          <a:xfrm rot="10800000">
            <a:off x="7886700" y="2229150"/>
            <a:ext cx="0" cy="34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32"/>
          <p:cNvCxnSpPr>
            <a:stCxn id="477" idx="1"/>
            <a:endCxn id="469" idx="3"/>
          </p:cNvCxnSpPr>
          <p:nvPr/>
        </p:nvCxnSpPr>
        <p:spPr>
          <a:xfrm rot="10800000">
            <a:off x="5334000" y="1971750"/>
            <a:ext cx="1981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32"/>
          <p:cNvCxnSpPr>
            <a:stCxn id="469" idx="1"/>
            <a:endCxn id="473" idx="3"/>
          </p:cNvCxnSpPr>
          <p:nvPr/>
        </p:nvCxnSpPr>
        <p:spPr>
          <a:xfrm rot="10800000">
            <a:off x="1752600" y="1971750"/>
            <a:ext cx="182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32"/>
          <p:cNvCxnSpPr>
            <a:stCxn id="473" idx="2"/>
            <a:endCxn id="468" idx="0"/>
          </p:cNvCxnSpPr>
          <p:nvPr/>
        </p:nvCxnSpPr>
        <p:spPr>
          <a:xfrm>
            <a:off x="1181100" y="2229000"/>
            <a:ext cx="0" cy="3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32"/>
          <p:cNvCxnSpPr>
            <a:stCxn id="468" idx="2"/>
            <a:endCxn id="475" idx="0"/>
          </p:cNvCxnSpPr>
          <p:nvPr/>
        </p:nvCxnSpPr>
        <p:spPr>
          <a:xfrm>
            <a:off x="1181100" y="2971950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32"/>
          <p:cNvCxnSpPr>
            <a:stCxn id="475" idx="3"/>
            <a:endCxn id="470" idx="1"/>
          </p:cNvCxnSpPr>
          <p:nvPr/>
        </p:nvCxnSpPr>
        <p:spPr>
          <a:xfrm>
            <a:off x="1752600" y="4143450"/>
            <a:ext cx="190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32"/>
          <p:cNvCxnSpPr>
            <a:stCxn id="470" idx="0"/>
            <a:endCxn id="476" idx="2"/>
          </p:cNvCxnSpPr>
          <p:nvPr/>
        </p:nvCxnSpPr>
        <p:spPr>
          <a:xfrm rot="10800000">
            <a:off x="4533900" y="371475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32"/>
          <p:cNvCxnSpPr>
            <a:stCxn id="476" idx="0"/>
            <a:endCxn id="467" idx="2"/>
          </p:cNvCxnSpPr>
          <p:nvPr/>
        </p:nvCxnSpPr>
        <p:spPr>
          <a:xfrm rot="10800000">
            <a:off x="4533900" y="297180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32"/>
          <p:cNvCxnSpPr>
            <a:stCxn id="470" idx="3"/>
            <a:endCxn id="474" idx="1"/>
          </p:cNvCxnSpPr>
          <p:nvPr/>
        </p:nvCxnSpPr>
        <p:spPr>
          <a:xfrm>
            <a:off x="5410200" y="4143450"/>
            <a:ext cx="190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32"/>
          <p:cNvCxnSpPr>
            <a:stCxn id="474" idx="0"/>
            <a:endCxn id="471" idx="2"/>
          </p:cNvCxnSpPr>
          <p:nvPr/>
        </p:nvCxnSpPr>
        <p:spPr>
          <a:xfrm rot="10800000">
            <a:off x="7886700" y="2972100"/>
            <a:ext cx="0" cy="91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32"/>
          <p:cNvSpPr/>
          <p:nvPr/>
        </p:nvSpPr>
        <p:spPr>
          <a:xfrm>
            <a:off x="5410200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94" name="Google Shape;494;p32"/>
          <p:cNvSpPr/>
          <p:nvPr/>
        </p:nvSpPr>
        <p:spPr>
          <a:xfrm flipH="1">
            <a:off x="3505212" y="40576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95" name="Google Shape;495;p32"/>
          <p:cNvSpPr/>
          <p:nvPr/>
        </p:nvSpPr>
        <p:spPr>
          <a:xfrm rot="5400000">
            <a:off x="4474337" y="2917017"/>
            <a:ext cx="114318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96" name="Google Shape;496;p32"/>
          <p:cNvSpPr/>
          <p:nvPr/>
        </p:nvSpPr>
        <p:spPr>
          <a:xfrm flipH="1" rot="5400000">
            <a:off x="4474364" y="37742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97" name="Google Shape;497;p32"/>
          <p:cNvSpPr/>
          <p:nvPr/>
        </p:nvSpPr>
        <p:spPr>
          <a:xfrm flipH="1">
            <a:off x="3505212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98" name="Google Shape;498;p32"/>
          <p:cNvSpPr/>
          <p:nvPr/>
        </p:nvSpPr>
        <p:spPr>
          <a:xfrm flipH="1" rot="5400000">
            <a:off x="78271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99" name="Google Shape;499;p32"/>
          <p:cNvSpPr/>
          <p:nvPr/>
        </p:nvSpPr>
        <p:spPr>
          <a:xfrm flipH="1" rot="5400000">
            <a:off x="1121564" y="2402676"/>
            <a:ext cx="114264" cy="223884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500" name="Google Shape;500;p32"/>
          <p:cNvSpPr/>
          <p:nvPr/>
        </p:nvSpPr>
        <p:spPr>
          <a:xfrm>
            <a:off x="54102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20574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3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Lucida Sans"/>
              <a:buNone/>
            </a:pPr>
            <a:r>
              <a:rPr lang="en"/>
              <a:t>Example - E/R Diagram</a:t>
            </a:r>
            <a:endParaRPr/>
          </a:p>
        </p:txBody>
      </p:sp>
      <p:sp>
        <p:nvSpPr>
          <p:cNvPr id="507" name="Google Shape;507;p33"/>
          <p:cNvSpPr/>
          <p:nvPr/>
        </p:nvSpPr>
        <p:spPr>
          <a:xfrm>
            <a:off x="36576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Course_Module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3"/>
          <p:cNvSpPr/>
          <p:nvPr/>
        </p:nvSpPr>
        <p:spPr>
          <a:xfrm>
            <a:off x="3048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3"/>
          <p:cNvSpPr/>
          <p:nvPr/>
        </p:nvSpPr>
        <p:spPr>
          <a:xfrm>
            <a:off x="7010400" y="2571750"/>
            <a:ext cx="1752600" cy="40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3"/>
          <p:cNvSpPr/>
          <p:nvPr/>
        </p:nvSpPr>
        <p:spPr>
          <a:xfrm>
            <a:off x="2286000" y="2514600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33"/>
          <p:cNvCxnSpPr>
            <a:stCxn id="508" idx="3"/>
            <a:endCxn id="510" idx="1"/>
          </p:cNvCxnSpPr>
          <p:nvPr/>
        </p:nvCxnSpPr>
        <p:spPr>
          <a:xfrm>
            <a:off x="20574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33"/>
          <p:cNvCxnSpPr>
            <a:stCxn id="510" idx="3"/>
            <a:endCxn id="507" idx="1"/>
          </p:cNvCxnSpPr>
          <p:nvPr/>
        </p:nvCxnSpPr>
        <p:spPr>
          <a:xfrm>
            <a:off x="3429000" y="27718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p33"/>
          <p:cNvCxnSpPr>
            <a:stCxn id="514" idx="3"/>
            <a:endCxn id="509" idx="1"/>
          </p:cNvCxnSpPr>
          <p:nvPr/>
        </p:nvCxnSpPr>
        <p:spPr>
          <a:xfrm>
            <a:off x="6858000" y="2770025"/>
            <a:ext cx="1524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33"/>
          <p:cNvSpPr/>
          <p:nvPr/>
        </p:nvSpPr>
        <p:spPr>
          <a:xfrm flipH="1">
            <a:off x="3505212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516" name="Google Shape;516;p33"/>
          <p:cNvSpPr/>
          <p:nvPr/>
        </p:nvSpPr>
        <p:spPr>
          <a:xfrm>
            <a:off x="5410200" y="2686050"/>
            <a:ext cx="152388" cy="167940"/>
          </a:xfrm>
          <a:custGeom>
            <a:rect b="b" l="l" r="r" t="t"/>
            <a:pathLst>
              <a:path extrusionOk="0" fill="none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</a:path>
              <a:path extrusionOk="0" h="43200" w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8"/>
                  <a:pt x="11945" y="43185"/>
                  <a:pt x="26" y="43199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514" name="Google Shape;514;p33"/>
          <p:cNvSpPr/>
          <p:nvPr/>
        </p:nvSpPr>
        <p:spPr>
          <a:xfrm>
            <a:off x="5715000" y="2512775"/>
            <a:ext cx="1143000" cy="514500"/>
          </a:xfrm>
          <a:prstGeom prst="diamond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7" name="Google Shape;517;p33"/>
          <p:cNvCxnSpPr>
            <a:endCxn id="514" idx="1"/>
          </p:cNvCxnSpPr>
          <p:nvPr/>
        </p:nvCxnSpPr>
        <p:spPr>
          <a:xfrm>
            <a:off x="5372100" y="2770025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4"/>
          <p:cNvSpPr txBox="1"/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23" name="Google Shape;523;p34"/>
          <p:cNvSpPr txBox="1"/>
          <p:nvPr>
            <p:ph idx="1" type="body"/>
          </p:nvPr>
        </p:nvSpPr>
        <p:spPr>
          <a:xfrm>
            <a:off x="457200" y="1200150"/>
            <a:ext cx="76200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https://www.javatpoint.com/dbms-notation-of-er-diagram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https://www.javatpoint.com/dbms-er-model-concept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5"/>
          <p:cNvSpPr txBox="1"/>
          <p:nvPr>
            <p:ph type="title"/>
          </p:nvPr>
        </p:nvSpPr>
        <p:spPr>
          <a:xfrm>
            <a:off x="311700" y="221805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40"/>
              <a:t>Thank You</a:t>
            </a:r>
            <a:endParaRPr sz="45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