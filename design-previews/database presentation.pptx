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144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663440"/>
            <a:ext cx="2743200" cy="2743200"/>
          </a:xfrm>
          <a:prstGeom prst="ellipse">
            <a:avLst/>
          </a:prstGeom>
          <a:solidFill>
            <a:srgbClr val="F9E795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548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FAFFODIL INTERNATIONAL UNIVERSITY   |   DEPARTMENT OF SOFTWARE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8961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| SE223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Sports League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Athlete Management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Design for a National Sports Authority — Entities, Relationships, and Schema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892040"/>
            <a:ext cx="2084832" cy="1280160"/>
          </a:xfrm>
          <a:prstGeom prst="roundRect">
            <a:avLst>
              <a:gd name="adj" fmla="val 6429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09344" y="5056632"/>
            <a:ext cx="512064" cy="51206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1609344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JAYED YEAMIN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5879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253-35-596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35808" y="4892040"/>
            <a:ext cx="2084832" cy="1280160"/>
          </a:xfrm>
          <a:prstGeom prst="roundRect">
            <a:avLst>
              <a:gd name="adj" fmla="val 6429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2192" y="5056632"/>
            <a:ext cx="512064" cy="51206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3822192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27248" y="5623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FAIAZ UL ISLAM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27248" y="5879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252-35-597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48656" y="4892040"/>
            <a:ext cx="2084832" cy="1280160"/>
          </a:xfrm>
          <a:prstGeom prst="roundRect">
            <a:avLst>
              <a:gd name="adj" fmla="val 6429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5056632"/>
            <a:ext cx="512064" cy="51206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0096" y="5623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TOHIDUL ISLAM SOYEB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340096" y="5879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252-35-592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61504" y="4892040"/>
            <a:ext cx="2084832" cy="1280160"/>
          </a:xfrm>
          <a:prstGeom prst="roundRect">
            <a:avLst>
              <a:gd name="adj" fmla="val 6429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7888" y="5056632"/>
            <a:ext cx="512064" cy="51206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8" name="Text 26"/>
          <p:cNvSpPr/>
          <p:nvPr/>
        </p:nvSpPr>
        <p:spPr>
          <a:xfrm>
            <a:off x="8247888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552944" y="5623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TAUHIDUL ISLAM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52944" y="5879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252-35-567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74352" y="4892040"/>
            <a:ext cx="2084832" cy="1280160"/>
          </a:xfrm>
          <a:prstGeom prst="roundRect">
            <a:avLst>
              <a:gd name="adj" fmla="val 6429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60736" y="5056632"/>
            <a:ext cx="512064" cy="51206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33" name="Text 31"/>
          <p:cNvSpPr/>
          <p:nvPr/>
        </p:nvSpPr>
        <p:spPr>
          <a:xfrm>
            <a:off x="10460736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765792" y="5623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LAMIA JAHAN JUI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765792" y="587959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252-35-409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Explanation &amp; Assumptions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126480" cy="4892040"/>
          </a:xfrm>
          <a:prstGeom prst="roundRect">
            <a:avLst>
              <a:gd name="adj" fmla="val 1869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532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sports authority governs multiple professional leagues, tournaments, clubs, stadiums, training centers, media partners, sponsors, and academies. The system must manage athletes, coaches, referees, and teams; schedule matches and tournaments; track training, injuries, and disciplinary actions; administer contracts, transfers, sponsorships, and broadcasting rights; and support ticketing, fan memberships, and performance analytics across the entire sporting ecosystem.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Objective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498848"/>
            <a:ext cx="5532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database that captures every entity, relationship, and constraint needed to run league operations end-to-end, and that gives administrators reliable data for performance and revenue analytics.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Assumptions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828800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1828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96912" y="174650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has exactly one current head coach; a coach heads at most one team at a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2606040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6060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96912" y="252374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athlete may hold multiple contracts over time, but only one active contract per team.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383280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383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96912" y="330098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involves exactly two teams and is officiated by one or more referees.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4160520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4160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96912" y="407822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Injuries, disciplinary actions, and ticket sales cannot exist independent of the entity they describe (weak entities).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4937760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937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96912" y="485546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deals may target a team, a tournament, or both.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5715000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296912" y="5632704"/>
            <a:ext cx="4315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memberships are team-specific; a fan may hold memberships with several teams.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Identified in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9960" cy="2148840"/>
          </a:xfrm>
          <a:prstGeom prst="roundRect">
            <a:avLst>
              <a:gd name="adj" fmla="val 4255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28216"/>
            <a:ext cx="2484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331720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Athlete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4672" y="2642616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Coach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2953512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Referee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3264408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Medical Staff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58640" y="1508760"/>
            <a:ext cx="3489960" cy="2148840"/>
          </a:xfrm>
          <a:prstGeom prst="roundRect">
            <a:avLst>
              <a:gd name="adj" fmla="val 4255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9808" y="17099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181600" y="1728216"/>
            <a:ext cx="2484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4672" y="2331720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Team / Club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4672" y="2642616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League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4672" y="2953512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Sponsor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4672" y="3264408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Media Partner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68640" y="1508760"/>
            <a:ext cx="3489960" cy="2148840"/>
          </a:xfrm>
          <a:prstGeom prst="roundRect">
            <a:avLst>
              <a:gd name="adj" fmla="val 4255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9808" y="170992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991600" y="1728216"/>
            <a:ext cx="2484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24672" y="2331720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24672" y="2642616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Tournament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24672" y="2953512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Program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3489960" cy="2148840"/>
          </a:xfrm>
          <a:prstGeom prst="roundRect">
            <a:avLst>
              <a:gd name="adj" fmla="val 4255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1788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197096"/>
            <a:ext cx="2484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Facilities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4672" y="4800600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Stadium / Venue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" y="5111496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Training Center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58640" y="3977640"/>
            <a:ext cx="3489960" cy="2148840"/>
          </a:xfrm>
          <a:prstGeom prst="roundRect">
            <a:avLst>
              <a:gd name="adj" fmla="val 4255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9808" y="41788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50808E"/>
          </a:solidFill>
          <a:ln/>
        </p:spPr>
      </p:sp>
      <p:sp>
        <p:nvSpPr>
          <p:cNvPr id="31" name="Text 29"/>
          <p:cNvSpPr/>
          <p:nvPr/>
        </p:nvSpPr>
        <p:spPr>
          <a:xfrm>
            <a:off x="5181600" y="4197096"/>
            <a:ext cx="2484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Records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614672" y="4800600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Contract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14672" y="5111496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Transfer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4672" y="5422392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Sponsorship Deal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14672" y="5733288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Broadcast Right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68640" y="3977640"/>
            <a:ext cx="3489960" cy="2148840"/>
          </a:xfrm>
          <a:prstGeom prst="roundRect">
            <a:avLst>
              <a:gd name="adj" fmla="val 4255"/>
            </a:avLst>
          </a:prstGeom>
          <a:solidFill>
            <a:srgbClr val="F5F6FB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69808" y="41788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B85042"/>
          </a:solidFill>
          <a:ln/>
        </p:spPr>
      </p:sp>
      <p:sp>
        <p:nvSpPr>
          <p:cNvPr id="38" name="Text 36"/>
          <p:cNvSpPr/>
          <p:nvPr/>
        </p:nvSpPr>
        <p:spPr>
          <a:xfrm>
            <a:off x="8991600" y="4197096"/>
            <a:ext cx="2484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/ Dependent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424672" y="4800600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Injury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424672" y="5111496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Disciplinary Action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424672" y="5422392"/>
            <a:ext cx="303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Ticket Sale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entities modeled in total, incl. 3 associative and 3 weak entities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Types in the ER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084832" cy="42062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38528"/>
            <a:ext cx="2084832" cy="393192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Attribute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AthleteID, TeamID, MatchID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4297680"/>
            <a:ext cx="1810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434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entity instance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0" y="1554480"/>
            <a:ext cx="2084832" cy="42062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55448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2834640" y="1938528"/>
            <a:ext cx="2084832" cy="3931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16459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Attribute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5146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71800" y="2761488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Nationality, 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71800" y="4297680"/>
            <a:ext cx="1810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4434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Atomic, cannot be divided further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1554480"/>
            <a:ext cx="2084832" cy="42062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5448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0640" y="1938528"/>
            <a:ext cx="2084832" cy="3931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230368" y="16459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Attribute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25146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2761488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(First, Last)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→ (Street, City, Country)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4297680"/>
            <a:ext cx="1810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434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up of sub-parts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06640" y="1554480"/>
            <a:ext cx="2084832" cy="42062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155448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6D2E46"/>
          </a:solidFill>
          <a:ln/>
        </p:spPr>
      </p:sp>
      <p:sp>
        <p:nvSpPr>
          <p:cNvPr id="30" name="Shape 28"/>
          <p:cNvSpPr/>
          <p:nvPr/>
        </p:nvSpPr>
        <p:spPr>
          <a:xfrm>
            <a:off x="7406640" y="1938528"/>
            <a:ext cx="2084832" cy="39319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7516368" y="16459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Multivalued Attribute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43800" y="25146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2761488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Athlete.PhoneNumbers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Team.Trophies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43800" y="4297680"/>
            <a:ext cx="1810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4434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hold more than one value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92640" y="1554480"/>
            <a:ext cx="2084832" cy="42062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5080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92640" y="1554480"/>
            <a:ext cx="2084832" cy="777240"/>
          </a:xfrm>
          <a:prstGeom prst="roundRect">
            <a:avLst>
              <a:gd name="adj" fmla="val 14118"/>
            </a:avLst>
          </a:prstGeom>
          <a:solidFill>
            <a:srgbClr val="50808E"/>
          </a:solidFill>
          <a:ln/>
        </p:spPr>
      </p:sp>
      <p:sp>
        <p:nvSpPr>
          <p:cNvPr id="38" name="Shape 36"/>
          <p:cNvSpPr/>
          <p:nvPr/>
        </p:nvSpPr>
        <p:spPr>
          <a:xfrm>
            <a:off x="9692640" y="1938528"/>
            <a:ext cx="2084832" cy="393192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39" name="Text 37"/>
          <p:cNvSpPr/>
          <p:nvPr/>
        </p:nvSpPr>
        <p:spPr>
          <a:xfrm>
            <a:off x="9802368" y="164592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Attribute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829800" y="25146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829800" y="2761488"/>
            <a:ext cx="1810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(from DOB)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ContractDuration (from dates)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829800" y="4297680"/>
            <a:ext cx="181051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29800" y="4434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other attributes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Entity–Relationship Diagram</a:t>
            </a:r>
            <a:endParaRPr lang="en-US" sz="2700" dirty="0"/>
          </a:p>
        </p:txBody>
      </p:sp>
      <p:pic>
        <p:nvPicPr>
          <p:cNvPr id="4" name="Image 0" descr="/home/claude/sports_db_deck/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8" y="1691640"/>
            <a:ext cx="10607040" cy="30794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98932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2F3C7E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" y="5943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20240" y="5961888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B85042"/>
          </a:solidFill>
          <a:ln w="22225">
            <a:solidFill>
              <a:srgbClr val="2F3C7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5943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0" y="5943600"/>
            <a:ext cx="292608" cy="237744"/>
          </a:xfrm>
          <a:prstGeom prst="diamond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4069080" y="5934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40680" y="5943600"/>
            <a:ext cx="292608" cy="237744"/>
          </a:xfrm>
          <a:prstGeom prst="diamond">
            <a:avLst/>
          </a:prstGeom>
          <a:solidFill>
            <a:srgbClr val="F96167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5934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26680" y="5989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N / M   —   cardinality of participation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core view — full attribute set on slides 3–4 and 8–9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Cardinality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534924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 Phrase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— 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team has one current head 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— Contract — Athlete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and athletes connect through time-stamped contracts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—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participates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Player Performance (goals, assists, minutes, rating)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 —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tournament contains many matches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—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venue hosts many matches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Referee —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Match Officials (role: main / assistant / VAR)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 — Training 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coach may run several programs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— Training Program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Attendance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— Team / Tournament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Sponsorship Deal (amount, duration)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Partner — Tournament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tournament, multiple regional broadcast deals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Athlete — Injury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 — existence-dependent on Athlete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— Ticket Sale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entity — existence-dependent on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Entities &amp; Identifying Relationships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entity has no key attribute of its own strong enough to guarantee uniqueness across the whole system — it is only identifiable in the context of its owner (identifying / strong entity). Three weak entities appear in this system: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77340" y="2907792"/>
            <a:ext cx="1554480" cy="50292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for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74420" y="352044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0140" y="3566160"/>
            <a:ext cx="24688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201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54580" y="2743200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4580" y="3410712"/>
            <a:ext cx="0" cy="15544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51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 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(AthleteID, InjuryID)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InjuryType, InjuryDate, Severity, RecoveryPeriod (derived)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1 : N  (total participation of weak entity)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2286000"/>
            <a:ext cx="361188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/ COACH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26380" y="2907792"/>
            <a:ext cx="1554480" cy="50292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against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23460" y="352044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9180" y="3566160"/>
            <a:ext cx="24688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486918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DISCIPLINARY 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03620" y="2743200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3620" y="3410712"/>
            <a:ext cx="0" cy="15544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4251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 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(PersonID, ActionID)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ActionType, Date, Reason, FineAmount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5166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1 : N  (total participation of weak entity)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2286000"/>
            <a:ext cx="361188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2286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075420" y="2907792"/>
            <a:ext cx="1554480" cy="50292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9254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72500" y="3520440"/>
            <a:ext cx="25603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18220" y="3566160"/>
            <a:ext cx="246888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86182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SALE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852660" y="2743200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52660" y="3410712"/>
            <a:ext cx="0" cy="15544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42519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 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(MatchID, TicketID)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0" y="45262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SeatCategory, Price, PurchaseDate, FanName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046720" y="5166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1 : N  (total participation of weak entity)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owner entity cascades and deletes its dependent weak entities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— Core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3429000" cy="905256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3429000" cy="598932"/>
          </a:xfrm>
          <a:prstGeom prst="roundRect">
            <a:avLst>
              <a:gd name="adj" fmla="val 9160"/>
            </a:avLst>
          </a:prstGeom>
          <a:solidFill>
            <a:srgbClr val="2F3C7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52778"/>
            <a:ext cx="3429000" cy="29946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71600"/>
            <a:ext cx="320954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(AthleteID, FirstName, LastName, DOB, Gender, Nationality, Position, Height, Weight, Email, Phone)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58368" y="200710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7744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596896"/>
            <a:ext cx="3429000" cy="21945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395728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(TeamID, TeamName, FoundedYear, Budget, CoachID, VenueID)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58368" y="2871216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305866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CoachID → COACH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24612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VenueID → VENUE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616452"/>
            <a:ext cx="3429000" cy="745236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645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835908"/>
            <a:ext cx="3429000" cy="21945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63474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(CoachID, FirstName, LastName, Specialization, YearsExperience)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368" y="411022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48056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700016"/>
            <a:ext cx="3429000" cy="21945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498848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(ContractID, AthleteID, TeamID, StartDate, EndDate, Salary)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58368" y="4974336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" y="516178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 → ATHLETE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" y="534924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TeamID → TEAM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1353312"/>
            <a:ext cx="3429000" cy="1092708"/>
          </a:xfrm>
          <a:prstGeom prst="roundRect">
            <a:avLst>
              <a:gd name="adj" fmla="val 502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1353312"/>
            <a:ext cx="3429000" cy="598932"/>
          </a:xfrm>
          <a:prstGeom prst="roundRect">
            <a:avLst>
              <a:gd name="adj" fmla="val 9160"/>
            </a:avLst>
          </a:prstGeom>
          <a:solidFill>
            <a:srgbClr val="1C7293"/>
          </a:solidFill>
          <a:ln/>
        </p:spPr>
      </p:sp>
      <p:sp>
        <p:nvSpPr>
          <p:cNvPr id="30" name="Shape 28"/>
          <p:cNvSpPr/>
          <p:nvPr/>
        </p:nvSpPr>
        <p:spPr>
          <a:xfrm>
            <a:off x="4160520" y="1652778"/>
            <a:ext cx="3429000" cy="29946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270248" y="1371600"/>
            <a:ext cx="320954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(TournamentID, Name, Season, StartDate, EndDate, PrizeMoney, LeagueID)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270248" y="200710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70248" y="219456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LeagueID → LEAGUE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2564892"/>
            <a:ext cx="3429000" cy="1655064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0" y="2564892"/>
            <a:ext cx="3429000" cy="598932"/>
          </a:xfrm>
          <a:prstGeom prst="roundRect">
            <a:avLst>
              <a:gd name="adj" fmla="val 9160"/>
            </a:avLst>
          </a:prstGeom>
          <a:solidFill>
            <a:srgbClr val="1C7293"/>
          </a:solidFill>
          <a:ln/>
        </p:spPr>
      </p:sp>
      <p:sp>
        <p:nvSpPr>
          <p:cNvPr id="36" name="Shape 34"/>
          <p:cNvSpPr/>
          <p:nvPr/>
        </p:nvSpPr>
        <p:spPr>
          <a:xfrm>
            <a:off x="4160520" y="2864358"/>
            <a:ext cx="3429000" cy="29946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270248" y="2583180"/>
            <a:ext cx="320954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(MatchID, MatchDate, MatchTime, TournamentID, VenueID, HomeTeamID, AwayTeamID, HomeScore, AwayScore, Status)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4270248" y="321868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70248" y="340614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TournamentID → TOURNAMENT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70248" y="359359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VenueID → VENUE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70248" y="3781044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HomeTeamID → TEAM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70248" y="3968496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AwayTeamID → TEAM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60520" y="4338828"/>
            <a:ext cx="3429000" cy="745236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60520" y="4338828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45" name="Shape 43"/>
          <p:cNvSpPr/>
          <p:nvPr/>
        </p:nvSpPr>
        <p:spPr>
          <a:xfrm>
            <a:off x="4160520" y="4558284"/>
            <a:ext cx="3429000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4270248" y="4357116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(VenueID, Name, City, Address, Capacity, SurfaceType)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4270248" y="4832604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VenueID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60520" y="5202936"/>
            <a:ext cx="3429000" cy="745236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60520" y="5202936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50" name="Shape 48"/>
          <p:cNvSpPr/>
          <p:nvPr/>
        </p:nvSpPr>
        <p:spPr>
          <a:xfrm>
            <a:off x="4160520" y="5422392"/>
            <a:ext cx="3429000" cy="21945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1" name="Text 49"/>
          <p:cNvSpPr/>
          <p:nvPr/>
        </p:nvSpPr>
        <p:spPr>
          <a:xfrm>
            <a:off x="4270248" y="5221224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 (LeagueID, LeagueName, Sport, Country)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4270248" y="569671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LeagueID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72400" y="1353312"/>
            <a:ext cx="3429000" cy="745236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0" y="135331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55" name="Shape 53"/>
          <p:cNvSpPr/>
          <p:nvPr/>
        </p:nvSpPr>
        <p:spPr>
          <a:xfrm>
            <a:off x="7772400" y="1572768"/>
            <a:ext cx="3429000" cy="219456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56" name="Text 54"/>
          <p:cNvSpPr/>
          <p:nvPr/>
        </p:nvSpPr>
        <p:spPr>
          <a:xfrm>
            <a:off x="7882128" y="137160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 (RefereeID, FirstName, LastName, CertLevel, YearsExperience)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7882128" y="184708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RefereeID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72400" y="2217420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22174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60" name="Shape 58"/>
          <p:cNvSpPr/>
          <p:nvPr/>
        </p:nvSpPr>
        <p:spPr>
          <a:xfrm>
            <a:off x="7772400" y="2436876"/>
            <a:ext cx="3429000" cy="219456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61" name="Text 59"/>
          <p:cNvSpPr/>
          <p:nvPr/>
        </p:nvSpPr>
        <p:spPr>
          <a:xfrm>
            <a:off x="7882128" y="2235708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PLAYER_PERFORMANCE (AthleteID, MatchID, Goals, Assists, MinutesPlayed, Rating)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7882128" y="2711196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AthleteID, MatchID (composite)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82128" y="289864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 → ATHLETE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882128" y="308610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 → MATCH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72400" y="3456432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72400" y="345643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67" name="Shape 65"/>
          <p:cNvSpPr/>
          <p:nvPr/>
        </p:nvSpPr>
        <p:spPr>
          <a:xfrm>
            <a:off x="7772400" y="3675888"/>
            <a:ext cx="3429000" cy="219456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68" name="Text 66"/>
          <p:cNvSpPr/>
          <p:nvPr/>
        </p:nvSpPr>
        <p:spPr>
          <a:xfrm>
            <a:off x="7882128" y="347472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MATCH_OFFICIALS (MatchID, RefereeID, Role)</a:t>
            </a:r>
            <a:endParaRPr lang="en-US" sz="920" dirty="0"/>
          </a:p>
        </p:txBody>
      </p:sp>
      <p:sp>
        <p:nvSpPr>
          <p:cNvPr id="69" name="Text 67"/>
          <p:cNvSpPr/>
          <p:nvPr/>
        </p:nvSpPr>
        <p:spPr>
          <a:xfrm>
            <a:off x="7882128" y="395020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MatchID, RefereeID (composite)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882128" y="413766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 → MATCH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882128" y="432511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RefereeID → REFEREE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72400" y="4695444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72400" y="4695444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74" name="Shape 72"/>
          <p:cNvSpPr/>
          <p:nvPr/>
        </p:nvSpPr>
        <p:spPr>
          <a:xfrm>
            <a:off x="7772400" y="4914900"/>
            <a:ext cx="3429000" cy="219456"/>
          </a:xfrm>
          <a:prstGeom prst="rect">
            <a:avLst/>
          </a:prstGeom>
          <a:solidFill>
            <a:srgbClr val="50808E"/>
          </a:solidFill>
          <a:ln/>
        </p:spPr>
      </p:sp>
      <p:sp>
        <p:nvSpPr>
          <p:cNvPr id="75" name="Text 73"/>
          <p:cNvSpPr/>
          <p:nvPr/>
        </p:nvSpPr>
        <p:spPr>
          <a:xfrm>
            <a:off x="7882128" y="4713732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(TransferID, AthleteID, FromTeamID, ToTeamID, TransferDate, Fee)</a:t>
            </a:r>
            <a:endParaRPr lang="en-US" sz="920" dirty="0"/>
          </a:p>
        </p:txBody>
      </p:sp>
      <p:sp>
        <p:nvSpPr>
          <p:cNvPr id="76" name="Text 74"/>
          <p:cNvSpPr/>
          <p:nvPr/>
        </p:nvSpPr>
        <p:spPr>
          <a:xfrm>
            <a:off x="7882128" y="518922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TransferID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882128" y="537667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 → ATHLETE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882128" y="5564124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FromTeamID/ToTeamID → TEAM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48640" y="66019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= Primary Key   ·   FK = Foreign Key   ·   underline denotes composite key on associative tables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— Supporting Tables &amp;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5331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72768"/>
            <a:ext cx="3429000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7160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(AthleteID, InjuryID, InjuryType, InjuryDate, Severity, RecoveryPeriod)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58368" y="184708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AthleteID, InjuryID (partial)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203454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 → ATHLETE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487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B8504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24328"/>
            <a:ext cx="3429000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42316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DISCIPLINARY_ACTION (PersonID, ActionID, ActionType, ActionDate, Reason, Fine)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58368" y="289864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PersonID, ActionID (partial)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8368" y="308610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PersonID → ATHLETE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643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B8504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75888"/>
            <a:ext cx="3429000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7472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TICKET_SALE (MatchID, TicketID, SeatCategory, Price, PurchaseDate, FanName)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368" y="395020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MatchID, TicketID (partial)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" y="413766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MatchID → MATCH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60520" y="1353312"/>
            <a:ext cx="3429000" cy="745236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135331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160520" y="1572768"/>
            <a:ext cx="3429000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4270248" y="137160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(SponsorID, SponsorName, Industry, Email, Phone)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270248" y="184708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2217420"/>
            <a:ext cx="3429000" cy="1467612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0520" y="2217420"/>
            <a:ext cx="3429000" cy="598932"/>
          </a:xfrm>
          <a:prstGeom prst="roundRect">
            <a:avLst>
              <a:gd name="adj" fmla="val 9160"/>
            </a:avLst>
          </a:prstGeom>
          <a:solidFill>
            <a:srgbClr val="B8860B"/>
          </a:solidFill>
          <a:ln/>
        </p:spPr>
      </p:sp>
      <p:sp>
        <p:nvSpPr>
          <p:cNvPr id="29" name="Shape 27"/>
          <p:cNvSpPr/>
          <p:nvPr/>
        </p:nvSpPr>
        <p:spPr>
          <a:xfrm>
            <a:off x="4160520" y="2516886"/>
            <a:ext cx="3429000" cy="29946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4270248" y="2235708"/>
            <a:ext cx="320954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SPONSORSHIP_DEAL (DealID, SponsorID, TeamID, TournamentID, Amount, StartDate, EndDate)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4270248" y="2871216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70248" y="305866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SponsorID → SPONSOR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70248" y="324612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TeamID → TEAM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70248" y="343357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TournamentID → TOURNAMENT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60520" y="3803904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60520" y="3803904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B8860B"/>
          </a:solidFill>
          <a:ln/>
        </p:spPr>
      </p:sp>
      <p:sp>
        <p:nvSpPr>
          <p:cNvPr id="37" name="Shape 35"/>
          <p:cNvSpPr/>
          <p:nvPr/>
        </p:nvSpPr>
        <p:spPr>
          <a:xfrm>
            <a:off x="4160520" y="4023360"/>
            <a:ext cx="3429000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8" name="Text 36"/>
          <p:cNvSpPr/>
          <p:nvPr/>
        </p:nvSpPr>
        <p:spPr>
          <a:xfrm>
            <a:off x="4270248" y="3822192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BROADCAST_RIGHT (BroadcastID, TournamentID, Channel, Region, Amount)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4270248" y="429768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70248" y="448513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TournamentID → TOURNAMENT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772400" y="1353312"/>
            <a:ext cx="3429000" cy="745236"/>
          </a:xfrm>
          <a:prstGeom prst="roundRect">
            <a:avLst>
              <a:gd name="adj" fmla="val 736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135331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43" name="Shape 41"/>
          <p:cNvSpPr/>
          <p:nvPr/>
        </p:nvSpPr>
        <p:spPr>
          <a:xfrm>
            <a:off x="7772400" y="1572768"/>
            <a:ext cx="3429000" cy="21945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4" name="Text 42"/>
          <p:cNvSpPr/>
          <p:nvPr/>
        </p:nvSpPr>
        <p:spPr>
          <a:xfrm>
            <a:off x="7882128" y="137160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TRAINING_CENTER (CenterID, Name, City, Capacity)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7882128" y="184708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CenterID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72400" y="2217420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0" y="221742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48" name="Shape 46"/>
          <p:cNvSpPr/>
          <p:nvPr/>
        </p:nvSpPr>
        <p:spPr>
          <a:xfrm>
            <a:off x="7772400" y="2436876"/>
            <a:ext cx="3429000" cy="21945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9" name="Text 47"/>
          <p:cNvSpPr/>
          <p:nvPr/>
        </p:nvSpPr>
        <p:spPr>
          <a:xfrm>
            <a:off x="7882128" y="2235708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TRAINING_PROGRAM (ProgramID, Name, Type, StartDate, EndDate, CenterID, CoachID)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7882128" y="2711196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82128" y="289864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CenterID → TRAINING_CENTER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882128" y="308610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CoachID → COACH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72400" y="3456432"/>
            <a:ext cx="3429000" cy="112014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0" y="3456432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55" name="Shape 53"/>
          <p:cNvSpPr/>
          <p:nvPr/>
        </p:nvSpPr>
        <p:spPr>
          <a:xfrm>
            <a:off x="7772400" y="3675888"/>
            <a:ext cx="3429000" cy="21945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6" name="Text 54"/>
          <p:cNvSpPr/>
          <p:nvPr/>
        </p:nvSpPr>
        <p:spPr>
          <a:xfrm>
            <a:off x="7882128" y="3474720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(AthleteID, ProgramID, AttendanceDate)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7882128" y="3950208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AthleteID, ProgramID (composite)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82128" y="413766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AthleteID → ATHLETE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882128" y="432511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ProgramID → TRAINING_PROGRAM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772400" y="4695444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4695444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2F3C7E"/>
          </a:solidFill>
          <a:ln/>
        </p:spPr>
      </p:sp>
      <p:sp>
        <p:nvSpPr>
          <p:cNvPr id="62" name="Shape 60"/>
          <p:cNvSpPr/>
          <p:nvPr/>
        </p:nvSpPr>
        <p:spPr>
          <a:xfrm>
            <a:off x="7772400" y="4914900"/>
            <a:ext cx="3429000" cy="219456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3" name="Text 61"/>
          <p:cNvSpPr/>
          <p:nvPr/>
        </p:nvSpPr>
        <p:spPr>
          <a:xfrm>
            <a:off x="7882128" y="4713732"/>
            <a:ext cx="3209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FAN_MEMBERSHIP (MembershipID, FanName, MembershipType, StartDate, TeamID)</a:t>
            </a:r>
            <a:endParaRPr lang="en-US" sz="920" dirty="0"/>
          </a:p>
        </p:txBody>
      </p:sp>
      <p:sp>
        <p:nvSpPr>
          <p:cNvPr id="64" name="Text 62"/>
          <p:cNvSpPr/>
          <p:nvPr/>
        </p:nvSpPr>
        <p:spPr>
          <a:xfrm>
            <a:off x="7882128" y="5189220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</a:t>
            </a:r>
            <a:r>
              <a:rPr lang="en-US" sz="9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MembershipID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882128" y="5376672"/>
            <a:ext cx="3209544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</a:t>
            </a:r>
            <a:r>
              <a:rPr lang="en-US" sz="9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TeamID → TEAM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8640" y="59893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1B2456"/>
          </a:solidFill>
          <a:ln/>
        </p:spPr>
      </p:sp>
      <p:sp>
        <p:nvSpPr>
          <p:cNvPr id="67" name="Text 65"/>
          <p:cNvSpPr/>
          <p:nvPr/>
        </p:nvSpPr>
        <p:spPr>
          <a:xfrm>
            <a:off x="777240" y="5989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from owner → weak entity (Injury, Disciplinary Action, Ticket Sale)  ·  UNIQUE(AthleteID, TeamID) WHERE active on Contract  ·  CHECK HomeTeamID ≠ AwayTeamID on Match  ·  NOT NULL on all FK columns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206240" cy="420624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3291840" cy="329184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Business Rules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20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athlete cannot hold two simultaneously active contracts.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871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must belong to exactly one tournament and be hosted at exactly one venue.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540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referee cannot officiate two matches scheduled at overlapping times.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94176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2102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disciplinary action must reference a valid athlete or coach; it cannot exist alone.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879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deal amounts and dates must be positive and EndDate &gt; StartDate.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Summary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196596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057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92240" y="2542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845552" y="196596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45552" y="2057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45552" y="2542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98864" y="196596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98864" y="2057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98864" y="2542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52176" y="1965960"/>
            <a:ext cx="123444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 w="12700">
            <a:solidFill>
              <a:srgbClr val="3B4A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52176" y="2057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552176" y="25420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32918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schema is fully normalized to Third Normal Form, enforces referential integrity through foreign-key constraints, correctly isolates weak entities under identifying relationships, and gives sports administrators a single, query-ready source of truth for performance, financial, and fan-engagement analytics across the national sporting ecosystem.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852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</a:p>
        </p:txBody>
      </p:sp>
      <p:sp>
        <p:nvSpPr>
          <p:cNvPr id="33" name="Text 31"/>
          <p:cNvSpPr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1625</Words>
  <Application>Microsoft Office PowerPoint</Application>
  <PresentationFormat>Widescreen</PresentationFormat>
  <Paragraphs>292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 Jayed Yeamin</cp:lastModifiedBy>
  <cp:revision>2</cp:revision>
  <dcterms:created xsi:type="dcterms:W3CDTF">2026-08-16T18:01:06Z</dcterms:created>
  <dcterms:modified xsi:type="dcterms:W3CDTF">2026-08-16T19:03:43Z</dcterms:modified>
</cp:coreProperties>
</file>